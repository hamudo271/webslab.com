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10728655" y="0"/>
            <a:ext cx="1463040" cy="548640"/>
          </a:xfrm>
          <a:prstGeom prst="rightTriangle">
            <a:avLst/>
          </a:prstGeom>
          <a:solidFill>
            <a:srgbClr val="1D74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99855" y="2926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Company Brochure 2026</a:t>
            </a:r>
            <a:endParaRPr lang="en-US" sz="1000" dirty="0"/>
          </a:p>
        </p:txBody>
      </p:sp>
      <p:pic>
        <p:nvPicPr>
          <p:cNvPr id="5" name="Image 0" descr="/Users/dooya8787/Desktop/webslab.co.kr/.claude/worktrees/gallant-nightingale-ceeee6/public/image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6032"/>
            <a:ext cx="1645920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645920"/>
            <a:ext cx="5029200" cy="0"/>
          </a:xfrm>
          <a:prstGeom prst="line">
            <a:avLst/>
          </a:prstGeom>
          <a:noFill/>
          <a:ln w="12700">
            <a:solidFill>
              <a:srgbClr val="1D74FF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48640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 COMPANY  BROCHURE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기업의 온라인 성장을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함께하는 전문가 그룹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548640" y="4160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홈페이지에 대한 고민을 끝내다, </a:t>
            </a:r>
            <a:pPr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029200"/>
            <a:ext cx="5029200" cy="109728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507492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5600" dirty="0"/>
          </a:p>
        </p:txBody>
      </p:sp>
      <p:sp>
        <p:nvSpPr>
          <p:cNvPr id="13" name="Text 10"/>
          <p:cNvSpPr/>
          <p:nvPr/>
        </p:nvSpPr>
        <p:spPr>
          <a:xfrm>
            <a:off x="3108960" y="507492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Completed projects
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3년 연속 85% 재계약률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0" y="5120640"/>
            <a:ext cx="5029200" cy="256032"/>
          </a:xfrm>
          <a:prstGeom prst="roundRect">
            <a:avLst>
              <a:gd name="adj" fmla="val 14286"/>
            </a:avLst>
          </a:prstGeom>
          <a:solidFill>
            <a:srgbClr val="14254A"/>
          </a:solidFill>
          <a:ln w="6350">
            <a:solidFill>
              <a:srgbClr val="1D74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37960" y="5212080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66560" y="512064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디자인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400800" y="5413248"/>
            <a:ext cx="5029200" cy="256032"/>
          </a:xfrm>
          <a:prstGeom prst="roundRect">
            <a:avLst>
              <a:gd name="adj" fmla="val 14286"/>
            </a:avLst>
          </a:prstGeom>
          <a:solidFill>
            <a:srgbClr val="14254A"/>
          </a:solidFill>
          <a:ln w="6350">
            <a:solidFill>
              <a:srgbClr val="1D74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37960" y="5504688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66560" y="541324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웹사이트 개발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00800" y="5705856"/>
            <a:ext cx="5029200" cy="256032"/>
          </a:xfrm>
          <a:prstGeom prst="roundRect">
            <a:avLst>
              <a:gd name="adj" fmla="val 14286"/>
            </a:avLst>
          </a:prstGeom>
          <a:solidFill>
            <a:srgbClr val="14254A"/>
          </a:solidFill>
          <a:ln w="6350">
            <a:solidFill>
              <a:srgbClr val="1D74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37960" y="5797296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5705856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 설계 · 마이그레이션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400800" y="5998464"/>
            <a:ext cx="5029200" cy="256032"/>
          </a:xfrm>
          <a:prstGeom prst="roundRect">
            <a:avLst>
              <a:gd name="adj" fmla="val 14286"/>
            </a:avLst>
          </a:prstGeom>
          <a:solidFill>
            <a:srgbClr val="14254A"/>
          </a:solidFill>
          <a:ln w="6350">
            <a:solidFill>
              <a:srgbClr val="1D74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537960" y="6089904"/>
            <a:ext cx="73152" cy="73152"/>
          </a:xfrm>
          <a:prstGeom prst="ellipse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766560" y="599846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리뉴얼 전문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webslab.co.kr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 US  /  01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홈페이지에 대한 고민을 끝내다.</a:t>
            </a:r>
            <a:endParaRPr lang="en-US" sz="4200" dirty="0"/>
          </a:p>
        </p:txBody>
      </p:sp>
      <p:sp>
        <p:nvSpPr>
          <p:cNvPr id="10" name="Text 7"/>
          <p:cNvSpPr/>
          <p:nvPr/>
        </p:nvSpPr>
        <p:spPr>
          <a:xfrm>
            <a:off x="548640" y="21488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약속한 것은, 끝까지 책임집니다.</a:t>
            </a:r>
            <a:endParaRPr lang="en-US" sz="4200" dirty="0"/>
          </a:p>
        </p:txBody>
      </p:sp>
      <p:sp>
        <p:nvSpPr>
          <p:cNvPr id="11" name="Text 8"/>
          <p:cNvSpPr/>
          <p:nvPr/>
        </p:nvSpPr>
        <p:spPr>
          <a:xfrm>
            <a:off x="548640" y="3108960"/>
            <a:ext cx="6949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결혼정보회사 C사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3번의 리뉴얼  ·  1년 2개월간 360페이지의 UI/UX 디자인 작업.
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개발팀은 어떤 상황에서도 맡은 프로젝트를 끝까지 책임지고 마무리합니다.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20인 이하 기업에서,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개발팀이 없어도 걱정 없이.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772400" y="3383280"/>
            <a:ext cx="3840480" cy="2606040"/>
          </a:xfrm>
          <a:prstGeom prst="roundRect">
            <a:avLst>
              <a:gd name="adj" fmla="val 2807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0" y="3383280"/>
            <a:ext cx="91440" cy="2606040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01000" y="352044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6400" dirty="0"/>
          </a:p>
        </p:txBody>
      </p:sp>
      <p:sp>
        <p:nvSpPr>
          <p:cNvPr id="15" name="Text 12"/>
          <p:cNvSpPr/>
          <p:nvPr/>
        </p:nvSpPr>
        <p:spPr>
          <a:xfrm>
            <a:off x="8001000" y="461772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COMPLETED  PROJECTS
</a:t>
            </a:r>
            <a:pPr indent="0" marL="0">
              <a:buNone/>
            </a:pPr>
            <a:r>
              <a:rPr lang="en-US" sz="1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작업 건수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001000" y="5257800"/>
            <a:ext cx="3291840" cy="10973"/>
          </a:xfrm>
          <a:prstGeom prst="rect">
            <a:avLst/>
          </a:prstGeom>
          <a:solidFill>
            <a:srgbClr val="2333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01000" y="539496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85%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3년 연속 재계약률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 US  /  02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수많은 기업이 이미 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548640" y="13258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수많은 기업이 이미 </a:t>
            </a:r>
            <a:pPr indent="0" marL="0">
              <a:buNone/>
            </a:pPr>
            <a:r>
              <a:rPr lang="en-US" sz="36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</a:t>
            </a:r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선택했습니다.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548640" y="21031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프로젝트의 시작과 마무리를 책임집니다. 사내 개발팀 없이도 안심하세요.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926080"/>
            <a:ext cx="2636444" cy="2194560"/>
          </a:xfrm>
          <a:prstGeom prst="roundRect">
            <a:avLst>
              <a:gd name="adj" fmla="val 25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2926080"/>
            <a:ext cx="2636444" cy="54864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3246120"/>
            <a:ext cx="22706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5600" dirty="0"/>
          </a:p>
        </p:txBody>
      </p:sp>
      <p:sp>
        <p:nvSpPr>
          <p:cNvPr id="15" name="Text 12"/>
          <p:cNvSpPr/>
          <p:nvPr/>
        </p:nvSpPr>
        <p:spPr>
          <a:xfrm>
            <a:off x="731520" y="4343400"/>
            <a:ext cx="22706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Projects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작업 건수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367964" y="2926080"/>
            <a:ext cx="2636444" cy="2194560"/>
          </a:xfrm>
          <a:prstGeom prst="roundRect">
            <a:avLst>
              <a:gd name="adj" fmla="val 25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367964" y="2926080"/>
            <a:ext cx="2636444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50844" y="3246120"/>
            <a:ext cx="22706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</a:t>
            </a:r>
            <a:endParaRPr lang="en-US" sz="5600" dirty="0"/>
          </a:p>
        </p:txBody>
      </p:sp>
      <p:sp>
        <p:nvSpPr>
          <p:cNvPr id="19" name="Text 16"/>
          <p:cNvSpPr/>
          <p:nvPr/>
        </p:nvSpPr>
        <p:spPr>
          <a:xfrm>
            <a:off x="3550844" y="4343400"/>
            <a:ext cx="22706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Completion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완수율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187288" y="2926080"/>
            <a:ext cx="2636444" cy="2194560"/>
          </a:xfrm>
          <a:prstGeom prst="roundRect">
            <a:avLst>
              <a:gd name="adj" fmla="val 25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187288" y="2926080"/>
            <a:ext cx="2636444" cy="54864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70168" y="3246120"/>
            <a:ext cx="22706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4.9</a:t>
            </a:r>
            <a:pPr indent="0" marL="0">
              <a:buNone/>
            </a:pPr>
            <a:r>
              <a:rPr lang="en-US" sz="2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/ 5.0</a:t>
            </a:r>
            <a:endParaRPr lang="en-US" sz="5600" dirty="0"/>
          </a:p>
        </p:txBody>
      </p:sp>
      <p:sp>
        <p:nvSpPr>
          <p:cNvPr id="23" name="Text 20"/>
          <p:cNvSpPr/>
          <p:nvPr/>
        </p:nvSpPr>
        <p:spPr>
          <a:xfrm>
            <a:off x="6370168" y="4343400"/>
            <a:ext cx="22706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Satisfaction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만족도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006611" y="2926080"/>
            <a:ext cx="2636444" cy="2194560"/>
          </a:xfrm>
          <a:prstGeom prst="roundRect">
            <a:avLst>
              <a:gd name="adj" fmla="val 25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06611" y="2926080"/>
            <a:ext cx="2636444" cy="54864"/>
          </a:xfrm>
          <a:prstGeom prst="rect">
            <a:avLst/>
          </a:prstGeom>
          <a:solidFill>
            <a:srgbClr val="00D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89491" y="3246120"/>
            <a:ext cx="22706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pPr indent="0" marL="0">
              <a:buNone/>
            </a:pPr>
            <a:r>
              <a:rPr lang="en-US" sz="2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</a:t>
            </a:r>
            <a:endParaRPr lang="en-US" sz="5600" dirty="0"/>
          </a:p>
        </p:txBody>
      </p:sp>
      <p:sp>
        <p:nvSpPr>
          <p:cNvPr id="27" name="Text 24"/>
          <p:cNvSpPr/>
          <p:nvPr/>
        </p:nvSpPr>
        <p:spPr>
          <a:xfrm>
            <a:off x="9189491" y="4343400"/>
            <a:ext cx="22706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Security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사고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completion rate, satisfaction, and security records measured across all engagements since 2022.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COMPANY  INFO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우리는 누구인가</a:t>
            </a:r>
            <a:endParaRPr lang="en-US" sz="36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4572000" cy="3657600"/>
          </a:xfrm>
          <a:prstGeom prst="roundRect">
            <a:avLst>
              <a:gd name="adj" fmla="val 20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26060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</a:t>
            </a:r>
            <a:endParaRPr lang="en-US" sz="3800" dirty="0"/>
          </a:p>
        </p:txBody>
      </p:sp>
      <p:sp>
        <p:nvSpPr>
          <p:cNvPr id="12" name="Text 9"/>
          <p:cNvSpPr/>
          <p:nvPr/>
        </p:nvSpPr>
        <p:spPr>
          <a:xfrm>
            <a:off x="1005840" y="3291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 Studio for B2B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05840" y="37033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홈페이지 신규 제작·리뉴얼 전문 에이전시.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기획부터 운영까지 한 팀에서 완결합니다.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05840" y="4937760"/>
            <a:ext cx="1691640" cy="292608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 w="8890">
            <a:solidFill>
              <a:srgbClr val="00D4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4937760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Next.js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834640" y="4937760"/>
            <a:ext cx="1691640" cy="292608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 w="889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834640" y="4937760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Headless CMS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05840" y="5303520"/>
            <a:ext cx="1691640" cy="292608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 w="889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05840" y="5303520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Edge Hosting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34640" y="5303520"/>
            <a:ext cx="1691640" cy="292608"/>
          </a:xfrm>
          <a:prstGeom prst="roundRect">
            <a:avLst>
              <a:gd name="adj" fmla="val 12500"/>
            </a:avLst>
          </a:prstGeom>
          <a:solidFill>
            <a:srgbClr val="24365C"/>
          </a:solidFill>
          <a:ln w="889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34640" y="5303520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852160" y="242316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 분야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15200" y="242316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디자인  ·  웹사이트 개발  ·  데이터베이스 설계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852160" y="2807208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852160" y="286207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315200" y="2862072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조현도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852160" y="3246120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852160" y="3300984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사업자등록번호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315200" y="3300984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173-58-00764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852160" y="3685032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852160" y="3739896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 인원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315200" y="3739896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6명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852160" y="4123944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852160" y="4178808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315200" y="4178808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서울특별시 강남구 역삼로3길 19 10층 1007호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852160" y="4562856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852160" y="461772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315200" y="461772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010-9891-2787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852160" y="5001768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852160" y="505663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7315200" y="5056632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contact@webslab.co.kr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5852160" y="5440680"/>
            <a:ext cx="5760720" cy="7315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852160" y="5495544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웹사이트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7315200" y="5495544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webslab.co.kr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SERVICES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팀에서, 끝까지.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기획부터 디자인, 개발, 운영까지 — 모든 단계를 직접 합니다.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651760"/>
            <a:ext cx="3545738" cy="3566160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2651760"/>
            <a:ext cx="3545738" cy="594360"/>
          </a:xfrm>
          <a:prstGeom prst="roundRect">
            <a:avLst>
              <a:gd name="adj" fmla="val 12308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3017520"/>
            <a:ext cx="3545738" cy="228600"/>
          </a:xfrm>
          <a:prstGeom prst="rect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2761488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539898" y="28163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BUILD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2960" y="3429000"/>
            <a:ext cx="29970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신규 제작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3977640"/>
            <a:ext cx="299709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브랜드의 첫 디지털 인상을 설계합니다.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UI/UX·디자인·개발·운영까지 한 팀.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41248" y="5138928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05840" y="5029200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기획 · 정보 구조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41248" y="5431536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05840" y="5321808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맞춤 디자인 · CMS 구축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41248" y="5724144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05840" y="5614416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후 2주 무상 안정화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322978" y="2651760"/>
            <a:ext cx="3545738" cy="3566160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322978" y="2651760"/>
            <a:ext cx="3545738" cy="594360"/>
          </a:xfrm>
          <a:prstGeom prst="roundRect">
            <a:avLst>
              <a:gd name="adj" fmla="val 12308"/>
            </a:avLst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2978" y="3017520"/>
            <a:ext cx="3545738" cy="22860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97298" y="2761488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314237" y="28163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RENEWAL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597298" y="3429000"/>
            <a:ext cx="29970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홈페이지 리뉴얼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4597298" y="3977640"/>
            <a:ext cx="299709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콘텐츠는 살리고 구조만 새로 짭니다.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SEO·도메인 권위 손실 없이.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615586" y="5138928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780178" y="5029200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 손실 없는 마이그레이션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615586" y="5431536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80178" y="5321808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301 리다이렉트 매핑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615586" y="5724144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780178" y="5614416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운영 데이터 이관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8097317" y="2651760"/>
            <a:ext cx="3545738" cy="3566160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097317" y="2651760"/>
            <a:ext cx="3545738" cy="594360"/>
          </a:xfrm>
          <a:prstGeom prst="roundRect">
            <a:avLst>
              <a:gd name="adj" fmla="val 12308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097317" y="3017520"/>
            <a:ext cx="3545738" cy="228600"/>
          </a:xfrm>
          <a:prstGeom prst="rect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371637" y="2761488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10088575" y="281635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8371637" y="3429000"/>
            <a:ext cx="299709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운영·유지보수</a:t>
            </a:r>
            <a:endParaRPr lang="en-US" sz="1800" dirty="0"/>
          </a:p>
        </p:txBody>
      </p:sp>
      <p:sp>
        <p:nvSpPr>
          <p:cNvPr id="43" name="Text 40"/>
          <p:cNvSpPr/>
          <p:nvPr/>
        </p:nvSpPr>
        <p:spPr>
          <a:xfrm>
            <a:off x="8371637" y="3977640"/>
            <a:ext cx="299709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후가 진짜 시작.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안정성 · 보안 · 콘텐츠를 함께 책임집니다.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8389925" y="5138928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554517" y="5029200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24/7 즉각 대응 체계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8389925" y="5431536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554517" y="5321808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 백업 · 보안 업데이트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8389925" y="5724144"/>
            <a:ext cx="73152" cy="73152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554517" y="5614416"/>
            <a:ext cx="29056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업데이트 지원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PROCESS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전부터 함께, 오픈 후에도 함께.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6단계 표준 프로세스. 매 단계마다 의사결정자가 보고 결정합니다.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85495" y="2743200"/>
            <a:ext cx="822960" cy="822960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85495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1854175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 · 상담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48640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 · 예산 · 일정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· 경쟁사 파악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865044" y="2743200"/>
            <a:ext cx="822960" cy="822960"/>
          </a:xfrm>
          <a:prstGeom prst="ellipse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865044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3733724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28189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적합성 검토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428189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리뷰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솔직한 방향 제안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744593" y="2743200"/>
            <a:ext cx="822960" cy="822960"/>
          </a:xfrm>
          <a:prstGeom prst="ellipse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44593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613273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07738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시안 제작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4307738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전 메인 시안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보고 결정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624142" y="2743200"/>
            <a:ext cx="822960" cy="822960"/>
          </a:xfrm>
          <a:prstGeom prst="ellipse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624142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7492822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87288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· 킥오프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187288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범위·일정 확정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 배정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8503691" y="2743200"/>
            <a:ext cx="822960" cy="822960"/>
          </a:xfrm>
          <a:prstGeom prst="ellipse">
            <a:avLst/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503691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9372371" y="3127248"/>
            <a:ext cx="1148029" cy="27432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6837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· 개발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8066837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진행 공유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스테이징 검수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10383241" y="2743200"/>
            <a:ext cx="822960" cy="822960"/>
          </a:xfrm>
          <a:prstGeom prst="ellips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383241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9946386" y="3749040"/>
            <a:ext cx="169666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· 케어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9946386" y="4297680"/>
            <a:ext cx="169666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실서버 배포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 안정화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48640" y="5486400"/>
            <a:ext cx="11094415" cy="502920"/>
          </a:xfrm>
          <a:prstGeom prst="roundRect">
            <a:avLst>
              <a:gd name="adj" fmla="val 10909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31520" y="548640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 </a:t>
            </a:r>
            <a:pPr indent="0" marL="0">
              <a:buNone/>
            </a:pPr>
            <a:r>
              <a:rPr lang="en-US" sz="1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전 시안 단계까지는 의사결정자가 보고 결정합니다. </a:t>
            </a:r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 매주 자료로 공유, 오픈 후 2주 안정화까지 책임.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OUR  CLIENTS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일한 110+ 기업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공공·금융·제조·의료·SaaS·물류까지, 다양한 산업의 기업이 websLAB을 선택했습니다.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SMC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153151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198871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OECD Korea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757661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803381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한일원자력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362172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07892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Galux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966683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12403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FASTFIVE C&amp;D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571194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16914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크리스천메이트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0175704" y="260604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221424" y="260604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식약처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4360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NKS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2153151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198871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디알코디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757661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803381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브레인맵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362172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07892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문화체육관광부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66683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012403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RadiSen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571194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616914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Medical Korea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10175704" y="387096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221424" y="387096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NovaDO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48640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94360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X-LOG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2153151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2198871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Virex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3757661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803381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S-COM Tech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5362172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407892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Nordinary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6966683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012403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AZgram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8571194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616914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에코커피컴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0175704" y="5135880"/>
            <a:ext cx="1467351" cy="1127760"/>
          </a:xfrm>
          <a:prstGeom prst="roundRect">
            <a:avLst>
              <a:gd name="adj" fmla="val 4865"/>
            </a:avLst>
          </a:prstGeom>
          <a:solidFill>
            <a:srgbClr val="F4F7FB"/>
          </a:solidFill>
          <a:ln w="508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10221424" y="5135880"/>
            <a:ext cx="1375911" cy="1127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과학의전당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01 of 12  ·  PUBLIC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OECD 조세정책본부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리뉴얼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10년치 정책 보고서 DB를 무중단 마이그레이션. 한·영 다국어 사이트 구조 재설계.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리뉴얼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 마이그레이션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다국어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2023.06 – 2023.10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체류시간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+62%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인덱싱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1.7K건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6949440" y="6071616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49440" y="570585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모바일 트래픽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9692640" y="57058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+85%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02 of 12  ·  MANUFACTURING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주식회사 바이렉스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리뉴얼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1,700개 산업용 상품 카탈로그를 검색 친화적으로 재구성. 카테고리·상세 페이지 템플릿 재설계.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리뉴얼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 최적화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CMS 구축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2024.12 – 2025.07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유입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+214%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인덱싱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1,712건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6949440" y="6071616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49440" y="570585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세션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9692640" y="57058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+38%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03 of 12  ·  LOGISTICS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IMPEX GLS, INC.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리뉴얼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세계 12개국 네트워크 시각화. 서비스별 케이스 스터디를 강조한 구조로 재편.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 리뉴얼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그래픽 디자인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퍼블리싱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2025.05 – 2025.07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체류시간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+62%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 전환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+38%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04 of 12  ·  MANUFACTURING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SMC 코리아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 사이트 신규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공압 부품 3,000개의 카탈로그를 카테고리별 검색·비교·문의 가능한 구조로 설계.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DB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14400" y="544068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544068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2024.06 – 2024.12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인덱싱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3,000+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오가닉 트래픽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+125%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05 of 12  ·  IT SOLUTION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Galux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플랫폼 사이트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단백질 디자인 플랫폼의 영문 사이트. 글로벌 투자자·연구자 대응.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UI/UX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인터랙션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14400" y="544068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544068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영문 카피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2024.04 – 2024.09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솔루션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리드 신청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+220%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노출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12개국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06 of 12  ·  PUBLIC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한국보건산업진흥원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2240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Medical Korea 캠페인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6400800" cy="3108960"/>
          </a:xfrm>
          <a:prstGeom prst="roundRect">
            <a:avLst>
              <a:gd name="adj" fmla="val 2353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926080"/>
            <a:ext cx="640080" cy="457200"/>
          </a:xfrm>
          <a:prstGeom prst="rightTriangle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0" y="3200400"/>
            <a:ext cx="17373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1A2D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800" dirty="0"/>
          </a:p>
        </p:txBody>
      </p:sp>
      <p:sp>
        <p:nvSpPr>
          <p:cNvPr id="14" name="Text 11"/>
          <p:cNvSpPr/>
          <p:nvPr/>
        </p:nvSpPr>
        <p:spPr>
          <a:xfrm>
            <a:off x="91440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HIGHLIGHT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14400" y="35204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의료관광 진흥 다국어 캠페인 사이트. 5개 언어 · 100+ 의료기관 데이터 연동.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다국어 사이트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60604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60604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 디자인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97680" y="5074920"/>
            <a:ext cx="1554480" cy="292608"/>
          </a:xfrm>
          <a:prstGeom prst="roundRect">
            <a:avLst>
              <a:gd name="adj" fmla="val 12500"/>
            </a:avLst>
          </a:prstGeom>
          <a:solidFill>
            <a:srgbClr val="1A2D52"/>
          </a:solidFill>
          <a:ln w="5080">
            <a:solidFill>
              <a:srgbClr val="00D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50749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949440" y="2926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PROJECT  PERIOD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949440" y="32004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2023.04 – 2023.07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949440" y="3749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INDUSTRY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949440" y="40233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9494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 RESULTS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949440" y="5303520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949440" y="4937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언어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692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5개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949440" y="5687568"/>
            <a:ext cx="4572000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949440" y="53218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연동 의료기관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692640" y="53218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100+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PORTFOLIO  /  REMAINING  ·  07 – 12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다양한 프로젝트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SaaS · 의료기기 · 브랜드 · IR — 도메인별 깊이 있는 사례.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65176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265176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281635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265578" y="281635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솔루션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22960" y="320040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FASTFIVE C&amp;D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368503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 사이트 신규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22960" y="390906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95478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2024.03 – 2024.07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22978" y="265176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322978" y="265176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97298" y="281635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039917" y="281635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의료/바이오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97298" y="320040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NKS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4597298" y="368503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바이오 IR 사이트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597298" y="390906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97298" y="395478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2024.07 – 2024.10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8097317" y="265176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097317" y="265176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371637" y="281635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9814255" y="281635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371637" y="320040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X-LOG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8371637" y="368503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풀필먼트 SaaS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8371637" y="390906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71637" y="395478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2024.05 – 2024.08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548640" y="445770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48640" y="445770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22960" y="462229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2265578" y="462229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의료기기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822960" y="500634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RadiSen</a:t>
            </a:r>
            <a:endParaRPr lang="en-US" sz="2000" dirty="0"/>
          </a:p>
        </p:txBody>
      </p:sp>
      <p:sp>
        <p:nvSpPr>
          <p:cNvPr id="40" name="Text 37"/>
          <p:cNvSpPr/>
          <p:nvPr/>
        </p:nvSpPr>
        <p:spPr>
          <a:xfrm>
            <a:off x="822960" y="549097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의료기기 글로벌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822960" y="571500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22960" y="576072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2024.02 – 2024.09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4322978" y="445770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322978" y="445770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597298" y="462229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6039917" y="462229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4597298" y="500634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NovaDO</a:t>
            </a:r>
            <a:endParaRPr lang="en-US" sz="2000" dirty="0"/>
          </a:p>
        </p:txBody>
      </p:sp>
      <p:sp>
        <p:nvSpPr>
          <p:cNvPr id="48" name="Text 45"/>
          <p:cNvSpPr/>
          <p:nvPr/>
        </p:nvSpPr>
        <p:spPr>
          <a:xfrm>
            <a:off x="4597298" y="549097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친환경 브랜드 D2C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597298" y="571500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597298" y="576072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2024.06 – 2024.07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8097317" y="4457700"/>
            <a:ext cx="3545738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097317" y="4457700"/>
            <a:ext cx="73152" cy="1577340"/>
          </a:xfrm>
          <a:prstGeom prst="rect">
            <a:avLst/>
          </a:prstGeom>
          <a:solidFill>
            <a:srgbClr val="1D74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71637" y="462229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9814255" y="462229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솔루션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8371637" y="500634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AZgram</a:t>
            </a:r>
            <a:endParaRPr lang="en-US" sz="2000" dirty="0"/>
          </a:p>
        </p:txBody>
      </p:sp>
      <p:sp>
        <p:nvSpPr>
          <p:cNvPr id="56" name="Text 53"/>
          <p:cNvSpPr/>
          <p:nvPr/>
        </p:nvSpPr>
        <p:spPr>
          <a:xfrm>
            <a:off x="8371637" y="5490972"/>
            <a:ext cx="30885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SaaS 컨버전 랜딩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8371637" y="5715000"/>
            <a:ext cx="2997098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71637" y="5760720"/>
            <a:ext cx="308853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2024.08 – 2024.09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pic>
        <p:nvPicPr>
          <p:cNvPr id="3" name="Image 0" descr="/Users/dooya8787/Desktop/webslab.co.kr/.claude/worktrees/gallant-nightingale-ceeee6/public/image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2608"/>
            <a:ext cx="1280160" cy="2560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6355080"/>
            <a:ext cx="11094415" cy="10973"/>
          </a:xfrm>
          <a:prstGeom prst="rect">
            <a:avLst/>
          </a:prstGeom>
          <a:solidFill>
            <a:srgbClr val="D9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 회사소개서  ·  webslab.co.kr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821528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98545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 websLAB  ALL RIGHTS RESERVED.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4864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 WEBSLAB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약속하는 9가지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54864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도움이 필요하신가요? 9가지 약속으로 답합니다.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606040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724912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110+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822960" y="3108960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완수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2960" y="3401568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약속을 끝까지 책임집니다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301642" y="2606040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5962" y="2724912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85%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4575962" y="3108960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재계약률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5962" y="3401568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만난 고객과 오래 갑니다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054645" y="2606040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28965" y="2724912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28965" y="3108960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전환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328965" y="3401568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SEO·데이터 손실 없는 마이그레이션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8640" y="3913632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32504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24/7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822960" y="4416552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유지보수 체계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22960" y="4709160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 후에도 즉각 대응 보장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301642" y="3913632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75962" y="4032504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전담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4575962" y="4416552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 배정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5962" y="4709160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책임자와 직접 소통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8054645" y="3913632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28965" y="4032504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8328965" y="4416552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공유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8328965" y="4709160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자료로 투명하게 공유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548640" y="5221224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22960" y="5340096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0건</a:t>
            </a:r>
            <a:endParaRPr lang="en-US" sz="2200" dirty="0"/>
          </a:p>
        </p:txBody>
      </p:sp>
      <p:sp>
        <p:nvSpPr>
          <p:cNvPr id="37" name="Text 34"/>
          <p:cNvSpPr/>
          <p:nvPr/>
        </p:nvSpPr>
        <p:spPr>
          <a:xfrm>
            <a:off x="822960" y="5724144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사고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822960" y="6016752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중 0건의 사고 기록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4301642" y="5221224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F4F7F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575962" y="5340096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7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en-US" sz="2200" dirty="0"/>
          </a:p>
        </p:txBody>
      </p:sp>
      <p:sp>
        <p:nvSpPr>
          <p:cNvPr id="41" name="Text 38"/>
          <p:cNvSpPr/>
          <p:nvPr/>
        </p:nvSpPr>
        <p:spPr>
          <a:xfrm>
            <a:off x="4575962" y="5724144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4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기업별 특성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4575962" y="6016752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7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업종·조직·타깃 맞춤 컨설팅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8054645" y="5221224"/>
            <a:ext cx="3588410" cy="1143000"/>
          </a:xfrm>
          <a:prstGeom prst="roundRect">
            <a:avLst>
              <a:gd name="adj" fmla="val 4800"/>
            </a:avLst>
          </a:prstGeom>
          <a:solidFill>
            <a:srgbClr val="0B1B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328965" y="5340096"/>
            <a:ext cx="303977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투명</a:t>
            </a:r>
            <a:endParaRPr lang="en-US" sz="2200" dirty="0"/>
          </a:p>
        </p:txBody>
      </p:sp>
      <p:sp>
        <p:nvSpPr>
          <p:cNvPr id="45" name="Text 42"/>
          <p:cNvSpPr/>
          <p:nvPr/>
        </p:nvSpPr>
        <p:spPr>
          <a:xfrm>
            <a:off x="8328965" y="5724144"/>
            <a:ext cx="303977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견적 시스템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8328965" y="6016752"/>
            <a:ext cx="30397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항목별 견적, 숨은 비용 없음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74FF"/>
          </a:solidFill>
          <a:ln w="12700">
            <a:solidFill>
              <a:srgbClr val="1D7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10728655" y="0"/>
            <a:ext cx="1463040" cy="548640"/>
          </a:xfrm>
          <a:prstGeom prst="rightTriangle">
            <a:avLst/>
          </a:prstGeom>
          <a:solidFill>
            <a:srgbClr val="1D74FF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/Users/dooya8787/Desktop/webslab.co.kr/.claude/worktrees/gallant-nightingale-ceeee6/public/image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4320"/>
            <a:ext cx="1645920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10312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준비되셨다면, </a:t>
            </a:r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시작하겠습니다.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548640" y="3246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목적 · 예산 · 일정만 알려주세요. 1영업일 안에 회신드립니다.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297680"/>
            <a:ext cx="3545738" cy="1371600"/>
          </a:xfrm>
          <a:prstGeom prst="roundRect">
            <a:avLst>
              <a:gd name="adj" fmla="val 5333"/>
            </a:avLst>
          </a:prstGeom>
          <a:solidFill>
            <a:srgbClr val="14254A"/>
          </a:solidFill>
          <a:ln w="8890">
            <a:solidFill>
              <a:srgbClr val="1D74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462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22960" y="5010912"/>
            <a:ext cx="29970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문의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266944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webslab.co.kr/contact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322978" y="4297680"/>
            <a:ext cx="3545738" cy="1371600"/>
          </a:xfrm>
          <a:prstGeom prst="roundRect">
            <a:avLst>
              <a:gd name="adj" fmla="val 5333"/>
            </a:avLst>
          </a:prstGeom>
          <a:solidFill>
            <a:srgbClr val="14254A"/>
          </a:solidFill>
          <a:ln w="8890">
            <a:solidFill>
              <a:srgbClr val="1D74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97298" y="4462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97298" y="5010912"/>
            <a:ext cx="29970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97298" y="5266944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contact@webslab.co.kr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97317" y="4297680"/>
            <a:ext cx="3545738" cy="1371600"/>
          </a:xfrm>
          <a:prstGeom prst="roundRect">
            <a:avLst>
              <a:gd name="adj" fmla="val 5333"/>
            </a:avLst>
          </a:prstGeom>
          <a:solidFill>
            <a:srgbClr val="14254A"/>
          </a:solidFill>
          <a:ln w="8890">
            <a:solidFill>
              <a:srgbClr val="1D74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71637" y="4462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☎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71637" y="5010912"/>
            <a:ext cx="29970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7C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 · 카카오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371637" y="5266944"/>
            <a:ext cx="29970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010-9891-2787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548640" y="63550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9B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웹슬랩  ·  대표 조현도  ·  서울특별시 강남구 역삼로3길 19 10층 1007호  ·  173-58-00764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websLAB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websLAB 회사소개서 2026</dc:title>
  <dc:subject>PptxGenJS Presentation</dc:subject>
  <dc:creator>websLAB</dc:creator>
  <cp:lastModifiedBy>websLAB</cp:lastModifiedBy>
  <cp:revision>1</cp:revision>
  <dcterms:created xsi:type="dcterms:W3CDTF">2026-06-09T08:46:28Z</dcterms:created>
  <dcterms:modified xsi:type="dcterms:W3CDTF">2026-06-09T08:46:28Z</dcterms:modified>
</cp:coreProperties>
</file>