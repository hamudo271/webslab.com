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10728655" y="0"/>
            <a:ext cx="1463040" cy="548640"/>
          </a:xfrm>
          <a:prstGeom prst="rightTriangle">
            <a:avLst/>
          </a:prstGeom>
          <a:solidFill>
            <a:srgbClr val="1D74FF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99855" y="2926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Company Brochure 2026</a:t>
            </a:r>
            <a:endParaRPr lang="en-US" sz="1000" dirty="0"/>
          </a:p>
        </p:txBody>
      </p:sp>
      <p:pic>
        <p:nvPicPr>
          <p:cNvPr id="5" name="Image 0" descr="/Users/dooya8787/Desktop/webslab.co.kr/.claude/worktrees/gallant-nightingale-ceeee6/public/image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6032"/>
            <a:ext cx="1645920" cy="329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645920"/>
            <a:ext cx="5029200" cy="0"/>
          </a:xfrm>
          <a:prstGeom prst="line">
            <a:avLst/>
          </a:prstGeom>
          <a:noFill/>
          <a:ln w="12700">
            <a:solidFill>
              <a:srgbClr val="1D74FF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548640" y="1828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 COMPANY  BROCHURE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219456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기업의 온라인 성장을</a:t>
            </a:r>
            <a:endParaRPr lang="en-US" sz="5200" dirty="0"/>
          </a:p>
        </p:txBody>
      </p:sp>
      <p:sp>
        <p:nvSpPr>
          <p:cNvPr id="9" name="Text 6"/>
          <p:cNvSpPr/>
          <p:nvPr/>
        </p:nvSpPr>
        <p:spPr>
          <a:xfrm>
            <a:off x="548640" y="306324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함께하는 전문가 그룹</a:t>
            </a:r>
            <a:endParaRPr lang="en-US" sz="5200" dirty="0"/>
          </a:p>
        </p:txBody>
      </p:sp>
      <p:sp>
        <p:nvSpPr>
          <p:cNvPr id="10" name="Text 7"/>
          <p:cNvSpPr/>
          <p:nvPr/>
        </p:nvSpPr>
        <p:spPr>
          <a:xfrm>
            <a:off x="548640" y="4160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홈페이지에 대한 고민을 끝내다, </a:t>
            </a:r>
            <a:pPr indent="0" marL="0">
              <a:buNone/>
            </a:pPr>
            <a:r>
              <a:rPr lang="en-US" sz="18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5029200"/>
            <a:ext cx="5029200" cy="1097280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5074920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110+</a:t>
            </a:r>
            <a:endParaRPr lang="en-US" sz="5600" dirty="0"/>
          </a:p>
        </p:txBody>
      </p:sp>
      <p:sp>
        <p:nvSpPr>
          <p:cNvPr id="13" name="Text 10"/>
          <p:cNvSpPr/>
          <p:nvPr/>
        </p:nvSpPr>
        <p:spPr>
          <a:xfrm>
            <a:off x="3108960" y="507492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Completed projects
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3년 연속 85% 재계약률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400800" y="5120640"/>
            <a:ext cx="5029200" cy="256032"/>
          </a:xfrm>
          <a:prstGeom prst="roundRect">
            <a:avLst>
              <a:gd name="adj" fmla="val 14286"/>
            </a:avLst>
          </a:prstGeom>
          <a:solidFill>
            <a:srgbClr val="14254A"/>
          </a:solidFill>
          <a:ln w="6350">
            <a:solidFill>
              <a:srgbClr val="1D74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537960" y="5212080"/>
            <a:ext cx="73152" cy="73152"/>
          </a:xfrm>
          <a:prstGeom prst="ellipse">
            <a:avLst/>
          </a:prstGeom>
          <a:solidFill>
            <a:srgbClr val="00D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766560" y="512064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 디자인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400800" y="5413248"/>
            <a:ext cx="5029200" cy="256032"/>
          </a:xfrm>
          <a:prstGeom prst="roundRect">
            <a:avLst>
              <a:gd name="adj" fmla="val 14286"/>
            </a:avLst>
          </a:prstGeom>
          <a:solidFill>
            <a:srgbClr val="14254A"/>
          </a:solidFill>
          <a:ln w="6350">
            <a:solidFill>
              <a:srgbClr val="1D74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37960" y="5504688"/>
            <a:ext cx="73152" cy="73152"/>
          </a:xfrm>
          <a:prstGeom prst="ellipse">
            <a:avLst/>
          </a:prstGeom>
          <a:solidFill>
            <a:srgbClr val="00D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766560" y="541324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웹사이트 개발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400800" y="5705856"/>
            <a:ext cx="5029200" cy="256032"/>
          </a:xfrm>
          <a:prstGeom prst="roundRect">
            <a:avLst>
              <a:gd name="adj" fmla="val 14286"/>
            </a:avLst>
          </a:prstGeom>
          <a:solidFill>
            <a:srgbClr val="14254A"/>
          </a:solidFill>
          <a:ln w="6350">
            <a:solidFill>
              <a:srgbClr val="1D74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37960" y="5797296"/>
            <a:ext cx="73152" cy="73152"/>
          </a:xfrm>
          <a:prstGeom prst="ellipse">
            <a:avLst/>
          </a:prstGeom>
          <a:solidFill>
            <a:srgbClr val="00D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766560" y="5705856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 설계 · 마이그레이션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400800" y="5998464"/>
            <a:ext cx="5029200" cy="256032"/>
          </a:xfrm>
          <a:prstGeom prst="roundRect">
            <a:avLst>
              <a:gd name="adj" fmla="val 14286"/>
            </a:avLst>
          </a:prstGeom>
          <a:solidFill>
            <a:srgbClr val="14254A"/>
          </a:solidFill>
          <a:ln w="6350">
            <a:solidFill>
              <a:srgbClr val="1D74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37960" y="6089904"/>
            <a:ext cx="73152" cy="73152"/>
          </a:xfrm>
          <a:prstGeom prst="ellipse">
            <a:avLst/>
          </a:prstGeom>
          <a:solidFill>
            <a:srgbClr val="00D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766560" y="599846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리뉴얼 전문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webslab.co.kr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ABOUT US  /  01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716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홈페이지에 대한 고민을 끝내다.</a:t>
            </a:r>
            <a:endParaRPr lang="en-US" sz="4200" dirty="0"/>
          </a:p>
        </p:txBody>
      </p:sp>
      <p:sp>
        <p:nvSpPr>
          <p:cNvPr id="10" name="Text 7"/>
          <p:cNvSpPr/>
          <p:nvPr/>
        </p:nvSpPr>
        <p:spPr>
          <a:xfrm>
            <a:off x="548640" y="21488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약속한 것은, 끝까지 책임집니다.</a:t>
            </a:r>
            <a:endParaRPr lang="en-US" sz="4200" dirty="0"/>
          </a:p>
        </p:txBody>
      </p:sp>
      <p:sp>
        <p:nvSpPr>
          <p:cNvPr id="11" name="Text 8"/>
          <p:cNvSpPr/>
          <p:nvPr/>
        </p:nvSpPr>
        <p:spPr>
          <a:xfrm>
            <a:off x="548640" y="3108960"/>
            <a:ext cx="69494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바이렉스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6개월  ·  1,700개 상품 카탈로그 SEO 리뉴얼.  검색 인덱싱 1,712건, 자연 유입 +214%.
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5년간 운영해온 산업용 부품 사이트의 카테고리 구조부터 다시 짰습니다. 마케팅 팀이 신상품을 직접 등록할 수 있도록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관리자 페이지까지 함께 만들었고,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 노출과 운영성을 동시에 챙겼습니다.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772400" y="3383280"/>
            <a:ext cx="3840480" cy="2606040"/>
          </a:xfrm>
          <a:prstGeom prst="roundRect">
            <a:avLst>
              <a:gd name="adj" fmla="val 2807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0" y="3383280"/>
            <a:ext cx="91440" cy="2606040"/>
          </a:xfrm>
          <a:prstGeom prst="rect">
            <a:avLst/>
          </a:prstGeom>
          <a:solidFill>
            <a:srgbClr val="00D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01000" y="352044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110+</a:t>
            </a:r>
            <a:endParaRPr lang="en-US" sz="6400" dirty="0"/>
          </a:p>
        </p:txBody>
      </p:sp>
      <p:sp>
        <p:nvSpPr>
          <p:cNvPr id="15" name="Text 12"/>
          <p:cNvSpPr/>
          <p:nvPr/>
        </p:nvSpPr>
        <p:spPr>
          <a:xfrm>
            <a:off x="8001000" y="461772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COMPLETED  PROJECTS
</a:t>
            </a:r>
            <a:pPr indent="0" marL="0">
              <a:buNone/>
            </a:pPr>
            <a:r>
              <a:rPr lang="en-US" sz="120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작업 건수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001000" y="5257800"/>
            <a:ext cx="3291840" cy="10973"/>
          </a:xfrm>
          <a:prstGeom prst="rect">
            <a:avLst/>
          </a:prstGeom>
          <a:solidFill>
            <a:srgbClr val="2333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001000" y="53949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85%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3년 연속 재계약률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ABOUT US  /  02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수많은 기업이 이미 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548640" y="13258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수많은 기업이 이미 </a:t>
            </a:r>
            <a:pPr indent="0" marL="0">
              <a:buNone/>
            </a:pPr>
            <a:r>
              <a:rPr lang="en-US" sz="36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</a:t>
            </a:r>
            <a:pPr indent="0" marL="0">
              <a:buNone/>
            </a:pPr>
            <a:r>
              <a:rPr lang="en-US" sz="36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선택했습니다.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548640" y="21031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프로젝트의 시작과 마무리를 책임집니다. 사내 개발팀 없이도 안심하세요.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2926080"/>
            <a:ext cx="2636444" cy="2194560"/>
          </a:xfrm>
          <a:prstGeom prst="roundRect">
            <a:avLst>
              <a:gd name="adj" fmla="val 2500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8640" y="2926080"/>
            <a:ext cx="2636444" cy="54864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1520" y="3246120"/>
            <a:ext cx="22706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110+</a:t>
            </a:r>
            <a:endParaRPr lang="en-US" sz="5600" dirty="0"/>
          </a:p>
        </p:txBody>
      </p:sp>
      <p:sp>
        <p:nvSpPr>
          <p:cNvPr id="15" name="Text 12"/>
          <p:cNvSpPr/>
          <p:nvPr/>
        </p:nvSpPr>
        <p:spPr>
          <a:xfrm>
            <a:off x="731520" y="4343400"/>
            <a:ext cx="22706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Projects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작업 건수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367964" y="2926080"/>
            <a:ext cx="2636444" cy="2194560"/>
          </a:xfrm>
          <a:prstGeom prst="roundRect">
            <a:avLst>
              <a:gd name="adj" fmla="val 2500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367964" y="2926080"/>
            <a:ext cx="2636444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50844" y="3246120"/>
            <a:ext cx="22706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100%</a:t>
            </a:r>
            <a:endParaRPr lang="en-US" sz="5600" dirty="0"/>
          </a:p>
        </p:txBody>
      </p:sp>
      <p:sp>
        <p:nvSpPr>
          <p:cNvPr id="19" name="Text 16"/>
          <p:cNvSpPr/>
          <p:nvPr/>
        </p:nvSpPr>
        <p:spPr>
          <a:xfrm>
            <a:off x="3550844" y="4343400"/>
            <a:ext cx="22706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Completion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완수율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187288" y="2926080"/>
            <a:ext cx="2636444" cy="2194560"/>
          </a:xfrm>
          <a:prstGeom prst="roundRect">
            <a:avLst>
              <a:gd name="adj" fmla="val 2500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187288" y="2926080"/>
            <a:ext cx="2636444" cy="54864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70168" y="3246120"/>
            <a:ext cx="22706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4.9</a:t>
            </a:r>
            <a:pPr indent="0" marL="0">
              <a:buNone/>
            </a:pPr>
            <a:r>
              <a:rPr lang="en-US" sz="220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/ 5.0</a:t>
            </a:r>
            <a:endParaRPr lang="en-US" sz="5600" dirty="0"/>
          </a:p>
        </p:txBody>
      </p:sp>
      <p:sp>
        <p:nvSpPr>
          <p:cNvPr id="23" name="Text 20"/>
          <p:cNvSpPr/>
          <p:nvPr/>
        </p:nvSpPr>
        <p:spPr>
          <a:xfrm>
            <a:off x="6370168" y="4343400"/>
            <a:ext cx="22706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Satisfaction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 만족도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9006611" y="2926080"/>
            <a:ext cx="2636444" cy="2194560"/>
          </a:xfrm>
          <a:prstGeom prst="roundRect">
            <a:avLst>
              <a:gd name="adj" fmla="val 2500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006611" y="2926080"/>
            <a:ext cx="2636444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89491" y="3246120"/>
            <a:ext cx="22706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pPr indent="0" marL="0">
              <a:buNone/>
            </a:pPr>
            <a:r>
              <a:rPr lang="en-US" sz="220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</a:t>
            </a:r>
            <a:endParaRPr lang="en-US" sz="5600" dirty="0"/>
          </a:p>
        </p:txBody>
      </p:sp>
      <p:sp>
        <p:nvSpPr>
          <p:cNvPr id="27" name="Text 24"/>
          <p:cNvSpPr/>
          <p:nvPr/>
        </p:nvSpPr>
        <p:spPr>
          <a:xfrm>
            <a:off x="9189491" y="4343400"/>
            <a:ext cx="22706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Security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 사고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48640" y="5486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completion rate, satisfaction, and security records measured across all engagements since 2022.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COMPANY  INFO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우리는 누구인가</a:t>
            </a:r>
            <a:endParaRPr lang="en-US" sz="360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4572000" cy="3657600"/>
          </a:xfrm>
          <a:prstGeom prst="roundRect">
            <a:avLst>
              <a:gd name="adj" fmla="val 2000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60604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</a:t>
            </a:r>
            <a:endParaRPr lang="en-US" sz="3800" dirty="0"/>
          </a:p>
        </p:txBody>
      </p:sp>
      <p:sp>
        <p:nvSpPr>
          <p:cNvPr id="12" name="Text 9"/>
          <p:cNvSpPr/>
          <p:nvPr/>
        </p:nvSpPr>
        <p:spPr>
          <a:xfrm>
            <a:off x="1005840" y="3291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 Studio for B2B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005840" y="37033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 홈페이지 신규 제작·리뉴얼 전문 에이전시.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기획부터 운영까지 한 팀에서 완결합니다.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005840" y="4937760"/>
            <a:ext cx="1691640" cy="292608"/>
          </a:xfrm>
          <a:prstGeom prst="roundRect">
            <a:avLst>
              <a:gd name="adj" fmla="val 12500"/>
            </a:avLst>
          </a:prstGeom>
          <a:solidFill>
            <a:srgbClr val="24365C"/>
          </a:solidFill>
          <a:ln w="8890">
            <a:solidFill>
              <a:srgbClr val="00D4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4937760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Next.js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834640" y="4937760"/>
            <a:ext cx="1691640" cy="292608"/>
          </a:xfrm>
          <a:prstGeom prst="roundRect">
            <a:avLst>
              <a:gd name="adj" fmla="val 12500"/>
            </a:avLst>
          </a:prstGeom>
          <a:solidFill>
            <a:srgbClr val="24365C"/>
          </a:solidFill>
          <a:ln w="8890">
            <a:solidFill>
              <a:srgbClr val="00D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834640" y="4937760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Headless CMS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005840" y="5303520"/>
            <a:ext cx="1691640" cy="292608"/>
          </a:xfrm>
          <a:prstGeom prst="roundRect">
            <a:avLst>
              <a:gd name="adj" fmla="val 12500"/>
            </a:avLst>
          </a:prstGeom>
          <a:solidFill>
            <a:srgbClr val="24365C"/>
          </a:solidFill>
          <a:ln w="8890">
            <a:solidFill>
              <a:srgbClr val="00D4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05840" y="5303520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Edge Hosting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834640" y="5303520"/>
            <a:ext cx="1691640" cy="292608"/>
          </a:xfrm>
          <a:prstGeom prst="roundRect">
            <a:avLst>
              <a:gd name="adj" fmla="val 12500"/>
            </a:avLst>
          </a:prstGeom>
          <a:solidFill>
            <a:srgbClr val="24365C"/>
          </a:solidFill>
          <a:ln w="8890">
            <a:solidFill>
              <a:srgbClr val="00D4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34640" y="5303520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852160" y="2423160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 분야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315200" y="242316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 디자인  ·  웹사이트 개발  ·  데이터베이스 설계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852160" y="2807208"/>
            <a:ext cx="5760720" cy="7315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852160" y="2862072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315200" y="2862072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조현도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852160" y="3246120"/>
            <a:ext cx="5760720" cy="7315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852160" y="3300984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사업자등록번호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7315200" y="3300984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173-58-00764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852160" y="3685032"/>
            <a:ext cx="5760720" cy="7315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852160" y="3739896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전문 인원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315200" y="3739896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6명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852160" y="4123944"/>
            <a:ext cx="5760720" cy="7315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852160" y="4178808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315200" y="4178808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서울특별시 강남구 역삼로3길 19 10층 1007호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852160" y="4562856"/>
            <a:ext cx="5760720" cy="7315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852160" y="4617720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7315200" y="461772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010-9891-2787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852160" y="5001768"/>
            <a:ext cx="5760720" cy="7315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852160" y="5056632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7315200" y="5056632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contact@webslab.co.kr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5852160" y="5440680"/>
            <a:ext cx="5760720" cy="7315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5852160" y="5495544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웹사이트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7315200" y="5495544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webslab.co.kr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OUR  SERVICES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팀에서, 끝까지.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54864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기획부터 디자인, 개발, 운영까지 — 모든 단계를 직접 합니다.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2651760"/>
            <a:ext cx="3545738" cy="3566160"/>
          </a:xfrm>
          <a:prstGeom prst="roundRect">
            <a:avLst>
              <a:gd name="adj" fmla="val 2063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2651760"/>
            <a:ext cx="3545738" cy="594360"/>
          </a:xfrm>
          <a:prstGeom prst="roundRect">
            <a:avLst>
              <a:gd name="adj" fmla="val 12308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8640" y="3017520"/>
            <a:ext cx="3545738" cy="228600"/>
          </a:xfrm>
          <a:prstGeom prst="rect">
            <a:avLst/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2761488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2539898" y="281635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NEW BUILD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2960" y="3429000"/>
            <a:ext cx="299709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신규 제작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822960" y="3977640"/>
            <a:ext cx="299709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브랜드의 첫 디지털 인상을 설계합니다.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UI/UX·디자인·개발·운영까지 한 팀.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41248" y="5138928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05840" y="5029200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전략 기획 · 정보 구조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41248" y="5431536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05840" y="5321808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맞춤 디자인 · CMS 구축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41248" y="5724144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05840" y="5614416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 후 2주 무상 안정화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322978" y="2651760"/>
            <a:ext cx="3545738" cy="3566160"/>
          </a:xfrm>
          <a:prstGeom prst="roundRect">
            <a:avLst>
              <a:gd name="adj" fmla="val 2063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322978" y="2651760"/>
            <a:ext cx="3545738" cy="594360"/>
          </a:xfrm>
          <a:prstGeom prst="roundRect">
            <a:avLst>
              <a:gd name="adj" fmla="val 12308"/>
            </a:avLst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22978" y="3017520"/>
            <a:ext cx="3545738" cy="228600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97298" y="2761488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6314237" y="281635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RENEWAL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4597298" y="3429000"/>
            <a:ext cx="299709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 홈페이지 리뉴얼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4597298" y="3977640"/>
            <a:ext cx="299709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콘텐츠는 살리고 구조만 새로 짭니다.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SEO·도메인 권위 손실 없이.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615586" y="5138928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780178" y="5029200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 손실 없는 마이그레이션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4615586" y="5431536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780178" y="5321808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301 리다이렉트 매핑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615586" y="5724144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780178" y="5614416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운영 데이터 이관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8097317" y="2651760"/>
            <a:ext cx="3545738" cy="3566160"/>
          </a:xfrm>
          <a:prstGeom prst="roundRect">
            <a:avLst>
              <a:gd name="adj" fmla="val 2063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097317" y="2651760"/>
            <a:ext cx="3545738" cy="594360"/>
          </a:xfrm>
          <a:prstGeom prst="roundRect">
            <a:avLst>
              <a:gd name="adj" fmla="val 12308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097317" y="3017520"/>
            <a:ext cx="3545738" cy="228600"/>
          </a:xfrm>
          <a:prstGeom prst="rect">
            <a:avLst/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371637" y="2761488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10088575" y="281635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OPERATIONS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8371637" y="3429000"/>
            <a:ext cx="299709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운영·유지보수</a:t>
            </a:r>
            <a:endParaRPr lang="en-US" sz="1800" dirty="0"/>
          </a:p>
        </p:txBody>
      </p:sp>
      <p:sp>
        <p:nvSpPr>
          <p:cNvPr id="43" name="Text 40"/>
          <p:cNvSpPr/>
          <p:nvPr/>
        </p:nvSpPr>
        <p:spPr>
          <a:xfrm>
            <a:off x="8371637" y="3977640"/>
            <a:ext cx="299709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 후가 진짜 시작.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안정성 · 보안 · 콘텐츠를 함께 책임집니다.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8389925" y="5138928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554517" y="5029200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24/7 즉각 대응 체계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8389925" y="5431536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8554517" y="5321808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월간 백업 · 보안 업데이트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8389925" y="5724144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8554517" y="5614416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업데이트 지원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OUR  PROCESS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전부터 함께, 오픈 후에도 함께.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54864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6단계 표준 프로세스. 매 단계마다 의사결정자가 보고 결정합니다.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985495" y="2743200"/>
            <a:ext cx="822960" cy="822960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85495" y="27432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1854175" y="3127248"/>
            <a:ext cx="1148029" cy="27432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749040"/>
            <a:ext cx="169666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 · 상담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48640" y="4297680"/>
            <a:ext cx="169666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목적 · 예산 · 일정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 · 경쟁사 파악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865044" y="2743200"/>
            <a:ext cx="822960" cy="822960"/>
          </a:xfrm>
          <a:prstGeom prst="ellipse">
            <a:avLst/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865044" y="27432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3733724" y="3127248"/>
            <a:ext cx="1148029" cy="27432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28189" y="3749040"/>
            <a:ext cx="169666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적합성 검토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2428189" y="4297680"/>
            <a:ext cx="169666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내부 리뷰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솔직한 방향 제안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744593" y="2743200"/>
            <a:ext cx="822960" cy="822960"/>
          </a:xfrm>
          <a:prstGeom prst="ellipse">
            <a:avLst/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744593" y="27432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613273" y="3127248"/>
            <a:ext cx="1148029" cy="27432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307738" y="3749040"/>
            <a:ext cx="169666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시안 제작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4307738" y="4297680"/>
            <a:ext cx="169666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전 메인 시안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보고 결정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624142" y="2743200"/>
            <a:ext cx="822960" cy="822960"/>
          </a:xfrm>
          <a:prstGeom prst="ellipse">
            <a:avLst/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624142" y="27432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7492822" y="3127248"/>
            <a:ext cx="1148029" cy="27432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187288" y="3749040"/>
            <a:ext cx="169666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· 킥오프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6187288" y="4297680"/>
            <a:ext cx="169666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범위·일정 확정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 배정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8503691" y="2743200"/>
            <a:ext cx="822960" cy="822960"/>
          </a:xfrm>
          <a:prstGeom prst="ellipse">
            <a:avLst/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503691" y="27432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9372371" y="3127248"/>
            <a:ext cx="1148029" cy="27432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6837" y="3749040"/>
            <a:ext cx="169666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· 개발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8066837" y="4297680"/>
            <a:ext cx="169666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 진행 공유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스테이징 검수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10383241" y="2743200"/>
            <a:ext cx="822960" cy="822960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0383241" y="27432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800" dirty="0"/>
          </a:p>
        </p:txBody>
      </p:sp>
      <p:sp>
        <p:nvSpPr>
          <p:cNvPr id="38" name="Text 35"/>
          <p:cNvSpPr/>
          <p:nvPr/>
        </p:nvSpPr>
        <p:spPr>
          <a:xfrm>
            <a:off x="9946386" y="3749040"/>
            <a:ext cx="169666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 · 케어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9946386" y="4297680"/>
            <a:ext cx="169666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실서버 배포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 안정화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548640" y="5486400"/>
            <a:ext cx="11094415" cy="502920"/>
          </a:xfrm>
          <a:prstGeom prst="roundRect">
            <a:avLst>
              <a:gd name="adj" fmla="val 10909"/>
            </a:avLst>
          </a:prstGeom>
          <a:solidFill>
            <a:srgbClr val="F4F7F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31520" y="5486400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 </a:t>
            </a:r>
            <a:pPr indent="0" marL="0">
              <a:buNone/>
            </a:pPr>
            <a:r>
              <a:rPr lang="en-US" sz="12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전 시안 단계까지는 의사결정자가 보고 결정합니다. </a:t>
            </a:r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중 매주 자료로 공유, 오픈 후 2주 안정화까지 책임.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OUR  CLIENTS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일한 110+ 기업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54864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공공·금융·제조·의료·SaaS·물류까지, 다양한 산업의 기업이 websLAB을 선택했습니다.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260604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260604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SMC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153151" y="260604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198871" y="260604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OECD Korea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757661" y="260604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803381" y="260604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한일원자력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362172" y="260604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07892" y="260604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Galux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966683" y="260604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012403" y="260604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FASTFIVE C&amp;D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571194" y="260604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616914" y="260604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크리스천메이트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0175704" y="260604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221424" y="260604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식약처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387096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94360" y="387096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NKS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2153151" y="387096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198871" y="387096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디알코디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757661" y="387096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803381" y="387096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브레인맵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362172" y="387096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407892" y="387096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문화체육관광부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66683" y="387096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012403" y="387096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RadiSen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571194" y="387096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616914" y="387096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Medical Korea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10175704" y="387096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221424" y="387096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NovaDO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548640" y="513588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94360" y="513588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X-LOG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2153151" y="513588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2198871" y="513588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Virex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3757661" y="513588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3803381" y="513588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S-COM Tech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5362172" y="513588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5407892" y="513588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Nordinary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6966683" y="513588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012403" y="513588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AZgram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8571194" y="513588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8616914" y="513588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에코커피컴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0175704" y="513588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10221424" y="513588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과학의전당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01 of 12  ·  BRAND / MUSIC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코스모스악기 · Roland Korea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2240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사이트 신규 제작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2926080"/>
            <a:ext cx="6400800" cy="3108960"/>
          </a:xfrm>
          <a:prstGeom prst="roundRect">
            <a:avLst>
              <a:gd name="adj" fmla="val 2353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926080"/>
            <a:ext cx="640080" cy="457200"/>
          </a:xfrm>
          <a:prstGeom prst="rightTriangl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3200400"/>
            <a:ext cx="1737360" cy="2651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1A2D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8800" dirty="0"/>
          </a:p>
        </p:txBody>
      </p:sp>
      <p:sp>
        <p:nvSpPr>
          <p:cNvPr id="14" name="Text 11"/>
          <p:cNvSpPr/>
          <p:nvPr/>
        </p:nvSpPr>
        <p:spPr>
          <a:xfrm>
            <a:off x="91440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HIGHLIGHT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14400" y="352044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Roland 글로벌 브랜드의 한국 공식 사이트. 제품 카탈로그·영상·뉴스를 마케팅 팀이 직접 운영하도록 CMS 기반으로 신규 구축.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91440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 신규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60604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60604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사이트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29768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9768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CMS 구축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14400" y="544068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544068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미디어 큐레이션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949440" y="2926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PERIOD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949440" y="32004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2024.06 – 2024.12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6949440" y="3749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INDUSTRY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949440" y="40233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· 음악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6949440" y="4617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 RESULTS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6949440" y="5303520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949440" y="4937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카테고리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9692640" y="4937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9개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949440" y="5687568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949440" y="53218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모듈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9692640" y="532180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3개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6949440" y="6071616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949440" y="570585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9692640" y="5705856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자체 CMS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02 of 12  ·  MANUFACTURING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주식회사 바이렉스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2240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리뉴얼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2926080"/>
            <a:ext cx="6400800" cy="3108960"/>
          </a:xfrm>
          <a:prstGeom prst="roundRect">
            <a:avLst>
              <a:gd name="adj" fmla="val 2353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926080"/>
            <a:ext cx="640080" cy="457200"/>
          </a:xfrm>
          <a:prstGeom prst="rightTriangl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3200400"/>
            <a:ext cx="1737360" cy="2651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1A2D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8800" dirty="0"/>
          </a:p>
        </p:txBody>
      </p:sp>
      <p:sp>
        <p:nvSpPr>
          <p:cNvPr id="14" name="Text 11"/>
          <p:cNvSpPr/>
          <p:nvPr/>
        </p:nvSpPr>
        <p:spPr>
          <a:xfrm>
            <a:off x="91440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HIGHLIGHT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14400" y="352044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1,700개 산업용 상품 카탈로그를 검색 친화적으로 재구성. 카테고리·상세 페이지 템플릿 재설계.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91440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 리뉴얼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60604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60604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 최적화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29768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9768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CMS 구축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949440" y="2926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PERIOD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949440" y="32004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2024.12 – 2025.07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6949440" y="3749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INDUSTRY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949440" y="40233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제조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6949440" y="4617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 RESULTS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949440" y="5303520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949440" y="4937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 유입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9692640" y="4937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+214%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949440" y="5687568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949440" y="53218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인덱싱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9692640" y="532180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1,712건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6949440" y="6071616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949440" y="570585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평균 세션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9692640" y="5705856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+38%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03 of 12  ·  LOGISTICS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IMPEX GLS, INC.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2240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리뉴얼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2926080"/>
            <a:ext cx="6400800" cy="3108960"/>
          </a:xfrm>
          <a:prstGeom prst="roundRect">
            <a:avLst>
              <a:gd name="adj" fmla="val 2353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926080"/>
            <a:ext cx="640080" cy="457200"/>
          </a:xfrm>
          <a:prstGeom prst="rightTriangl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3200400"/>
            <a:ext cx="1737360" cy="2651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1A2D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8800" dirty="0"/>
          </a:p>
        </p:txBody>
      </p:sp>
      <p:sp>
        <p:nvSpPr>
          <p:cNvPr id="14" name="Text 11"/>
          <p:cNvSpPr/>
          <p:nvPr/>
        </p:nvSpPr>
        <p:spPr>
          <a:xfrm>
            <a:off x="91440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HIGHLIGHT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14400" y="352044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세계 12개국 네트워크 시각화. 서비스별 케이스 스터디를 강조한 구조로 재편.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91440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 리뉴얼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60604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60604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그래픽 디자인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29768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9768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반응형 퍼블리싱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949440" y="2926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PERIOD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949440" y="32004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2025.05 – 2025.07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6949440" y="3749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INDUSTRY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949440" y="40233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6949440" y="4617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 RESULTS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949440" y="5303520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949440" y="4937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평균 체류시간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9692640" y="4937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+62%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949440" y="5687568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949440" y="53218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 전환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9692640" y="532180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+38%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04 of 12  ·  MANUFACTURING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SMC 코리아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2240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카탈로그 사이트 신규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2926080"/>
            <a:ext cx="6400800" cy="3108960"/>
          </a:xfrm>
          <a:prstGeom prst="roundRect">
            <a:avLst>
              <a:gd name="adj" fmla="val 2353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926080"/>
            <a:ext cx="640080" cy="457200"/>
          </a:xfrm>
          <a:prstGeom prst="rightTriangl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3200400"/>
            <a:ext cx="1737360" cy="2651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1A2D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8800" dirty="0"/>
          </a:p>
        </p:txBody>
      </p:sp>
      <p:sp>
        <p:nvSpPr>
          <p:cNvPr id="14" name="Text 11"/>
          <p:cNvSpPr/>
          <p:nvPr/>
        </p:nvSpPr>
        <p:spPr>
          <a:xfrm>
            <a:off x="91440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HIGHLIGHT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14400" y="352044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공압 부품 3,000개의 카탈로그를 카테고리별 검색·비교·문의 가능한 구조로 설계.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91440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60604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60604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29768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9768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DB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14400" y="544068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544068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949440" y="2926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PERIOD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949440" y="32004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2024.06 – 2024.12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6949440" y="3749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INDUSTRY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949440" y="40233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제조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6949440" y="4617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 RESULTS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6949440" y="5303520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949440" y="4937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인덱싱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9692640" y="4937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3,000+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949440" y="5687568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949440" y="53218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오가닉 트래픽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9692640" y="532180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+125%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05 of 12  ·  IT SOLUTION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Galux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2240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플랫폼 사이트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2926080"/>
            <a:ext cx="6400800" cy="3108960"/>
          </a:xfrm>
          <a:prstGeom prst="roundRect">
            <a:avLst>
              <a:gd name="adj" fmla="val 2353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926080"/>
            <a:ext cx="640080" cy="457200"/>
          </a:xfrm>
          <a:prstGeom prst="rightTriangl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3200400"/>
            <a:ext cx="1737360" cy="2651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1A2D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8800" dirty="0"/>
          </a:p>
        </p:txBody>
      </p:sp>
      <p:sp>
        <p:nvSpPr>
          <p:cNvPr id="14" name="Text 11"/>
          <p:cNvSpPr/>
          <p:nvPr/>
        </p:nvSpPr>
        <p:spPr>
          <a:xfrm>
            <a:off x="91440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HIGHLIGHT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14400" y="352044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단백질 디자인 플랫폼의 영문 사이트. 글로벌 투자자·연구자 대응.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91440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60604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60604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29768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9768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인터랙션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14400" y="544068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544068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영문 카피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949440" y="2926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PERIOD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949440" y="32004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2024.04 – 2024.09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6949440" y="3749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INDUSTRY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949440" y="40233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솔루션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6949440" y="4617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 RESULTS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6949440" y="5303520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949440" y="4937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리드 신청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9692640" y="4937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+220%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949440" y="5687568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949440" y="53218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글로벌 노출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9692640" y="532180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12개국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06 of 12  ·  PUBLIC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한국보건산업진흥원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2240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Medical Korea 캠페인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2926080"/>
            <a:ext cx="6400800" cy="3108960"/>
          </a:xfrm>
          <a:prstGeom prst="roundRect">
            <a:avLst>
              <a:gd name="adj" fmla="val 2353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926080"/>
            <a:ext cx="640080" cy="457200"/>
          </a:xfrm>
          <a:prstGeom prst="rightTriangl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3200400"/>
            <a:ext cx="1737360" cy="2651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1A2D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8800" dirty="0"/>
          </a:p>
        </p:txBody>
      </p:sp>
      <p:sp>
        <p:nvSpPr>
          <p:cNvPr id="14" name="Text 11"/>
          <p:cNvSpPr/>
          <p:nvPr/>
        </p:nvSpPr>
        <p:spPr>
          <a:xfrm>
            <a:off x="91440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HIGHLIGHT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14400" y="352044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의료관광 진흥 다국어 캠페인 사이트. 5개 언어 · 100+ 의료기관 데이터 연동.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91440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다국어 사이트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60604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60604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캠페인 디자인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29768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9768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CMS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949440" y="2926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PERIOD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949440" y="32004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2023.04 – 2023.07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6949440" y="3749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INDUSTRY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949440" y="40233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6949440" y="4617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 RESULTS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949440" y="5303520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949440" y="4937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언어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9692640" y="4937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5개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949440" y="5687568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949440" y="53218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연동 의료기관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9692640" y="532180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100+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REMAINING  ·  07 – 12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다양한 프로젝트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54864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SaaS · 의료기기 · 브랜드 · IR — 도메인별 깊이 있는 사례.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2651760"/>
            <a:ext cx="3545738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2651760"/>
            <a:ext cx="73152" cy="1577340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281635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265578" y="281635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솔루션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822960" y="3200400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FASTFIVE C&amp;D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22960" y="3685032"/>
            <a:ext cx="30885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비즈니스 사이트 신규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22960" y="3909060"/>
            <a:ext cx="2997098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954780"/>
            <a:ext cx="308853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2024.03 – 2024.07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322978" y="2651760"/>
            <a:ext cx="3545738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322978" y="2651760"/>
            <a:ext cx="73152" cy="1577340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97298" y="281635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039917" y="281635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의료/바이오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97298" y="3200400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NKS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4597298" y="3685032"/>
            <a:ext cx="30885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바이오 IR 사이트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597298" y="3909060"/>
            <a:ext cx="2997098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97298" y="3954780"/>
            <a:ext cx="308853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2024.07 – 2024.10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8097317" y="2651760"/>
            <a:ext cx="3545738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097317" y="2651760"/>
            <a:ext cx="73152" cy="1577340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371637" y="281635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9814255" y="281635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371637" y="3200400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X-LOG</a:t>
            </a:r>
            <a:endParaRPr lang="en-US" sz="2000" dirty="0"/>
          </a:p>
        </p:txBody>
      </p:sp>
      <p:sp>
        <p:nvSpPr>
          <p:cNvPr id="32" name="Text 29"/>
          <p:cNvSpPr/>
          <p:nvPr/>
        </p:nvSpPr>
        <p:spPr>
          <a:xfrm>
            <a:off x="8371637" y="3685032"/>
            <a:ext cx="30885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풀필먼트 SaaS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8371637" y="3909060"/>
            <a:ext cx="2997098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371637" y="3954780"/>
            <a:ext cx="308853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2024.05 – 2024.08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548640" y="4457700"/>
            <a:ext cx="3545738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48640" y="4457700"/>
            <a:ext cx="73152" cy="1577340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22960" y="462229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2265578" y="462229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의료기기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822960" y="5006340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RadiSen</a:t>
            </a:r>
            <a:endParaRPr lang="en-US" sz="2000" dirty="0"/>
          </a:p>
        </p:txBody>
      </p:sp>
      <p:sp>
        <p:nvSpPr>
          <p:cNvPr id="40" name="Text 37"/>
          <p:cNvSpPr/>
          <p:nvPr/>
        </p:nvSpPr>
        <p:spPr>
          <a:xfrm>
            <a:off x="822960" y="5490972"/>
            <a:ext cx="30885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의료기기 글로벌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822960" y="5715000"/>
            <a:ext cx="2997098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822960" y="5760720"/>
            <a:ext cx="308853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2024.02 – 2024.09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4322978" y="4457700"/>
            <a:ext cx="3545738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322978" y="4457700"/>
            <a:ext cx="73152" cy="1577340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597298" y="462229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6039917" y="462229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4597298" y="5006340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NovaDO</a:t>
            </a:r>
            <a:endParaRPr lang="en-US" sz="2000" dirty="0"/>
          </a:p>
        </p:txBody>
      </p:sp>
      <p:sp>
        <p:nvSpPr>
          <p:cNvPr id="48" name="Text 45"/>
          <p:cNvSpPr/>
          <p:nvPr/>
        </p:nvSpPr>
        <p:spPr>
          <a:xfrm>
            <a:off x="4597298" y="5490972"/>
            <a:ext cx="30885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친환경 브랜드 D2C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4597298" y="5715000"/>
            <a:ext cx="2997098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4597298" y="5760720"/>
            <a:ext cx="308853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2024.06 – 2024.07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8097317" y="4457700"/>
            <a:ext cx="3545738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097317" y="4457700"/>
            <a:ext cx="73152" cy="1577340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371637" y="462229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1100" dirty="0"/>
          </a:p>
        </p:txBody>
      </p:sp>
      <p:sp>
        <p:nvSpPr>
          <p:cNvPr id="54" name="Text 51"/>
          <p:cNvSpPr/>
          <p:nvPr/>
        </p:nvSpPr>
        <p:spPr>
          <a:xfrm>
            <a:off x="9814255" y="462229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솔루션</a:t>
            </a:r>
            <a:endParaRPr lang="en-US" sz="900" dirty="0"/>
          </a:p>
        </p:txBody>
      </p:sp>
      <p:sp>
        <p:nvSpPr>
          <p:cNvPr id="55" name="Text 52"/>
          <p:cNvSpPr/>
          <p:nvPr/>
        </p:nvSpPr>
        <p:spPr>
          <a:xfrm>
            <a:off x="8371637" y="5006340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AZgram</a:t>
            </a:r>
            <a:endParaRPr lang="en-US" sz="2000" dirty="0"/>
          </a:p>
        </p:txBody>
      </p:sp>
      <p:sp>
        <p:nvSpPr>
          <p:cNvPr id="56" name="Text 53"/>
          <p:cNvSpPr/>
          <p:nvPr/>
        </p:nvSpPr>
        <p:spPr>
          <a:xfrm>
            <a:off x="8371637" y="5490972"/>
            <a:ext cx="30885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SaaS 컨버전 랜딩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8371637" y="5715000"/>
            <a:ext cx="2997098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71637" y="5760720"/>
            <a:ext cx="308853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2024.08 – 2024.09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  WEBSLAB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우리가 약속하는 9가지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54864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도움이 필요하신가요? 9가지 약속으로 답합니다.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2606040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724912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110+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822960" y="3108960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완수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22960" y="3401568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약속을 끝까지 책임집니다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301642" y="2606040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F4F7F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75962" y="2724912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85%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4575962" y="3108960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재계약률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75962" y="3401568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만난 고객과 오래 갑니다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054645" y="2606040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F4F7F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328965" y="2724912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28965" y="3108960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전환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328965" y="3401568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SEO·데이터 손실 없는 마이그레이션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48640" y="3913632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F4F7F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2960" y="4032504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24/7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822960" y="4416552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유지보수 체계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22960" y="4709160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 후에도 즉각 대응 보장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4301642" y="3913632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575962" y="4032504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전담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4575962" y="4416552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 배정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575962" y="4709160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책임자와 직접 소통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8054645" y="3913632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F4F7F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28965" y="4032504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</a:t>
            </a:r>
            <a:endParaRPr lang="en-US" sz="2200" dirty="0"/>
          </a:p>
        </p:txBody>
      </p:sp>
      <p:sp>
        <p:nvSpPr>
          <p:cNvPr id="33" name="Text 30"/>
          <p:cNvSpPr/>
          <p:nvPr/>
        </p:nvSpPr>
        <p:spPr>
          <a:xfrm>
            <a:off x="8328965" y="4416552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공유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8328965" y="4709160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자료로 투명하게 공유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548640" y="5221224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F4F7F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22960" y="5340096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0건</a:t>
            </a:r>
            <a:endParaRPr lang="en-US" sz="2200" dirty="0"/>
          </a:p>
        </p:txBody>
      </p:sp>
      <p:sp>
        <p:nvSpPr>
          <p:cNvPr id="37" name="Text 34"/>
          <p:cNvSpPr/>
          <p:nvPr/>
        </p:nvSpPr>
        <p:spPr>
          <a:xfrm>
            <a:off x="822960" y="5724144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 사고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822960" y="6016752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중 0건의 사고 기록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4301642" y="5221224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F4F7F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575962" y="5340096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</a:t>
            </a:r>
            <a:endParaRPr lang="en-US" sz="2200" dirty="0"/>
          </a:p>
        </p:txBody>
      </p:sp>
      <p:sp>
        <p:nvSpPr>
          <p:cNvPr id="41" name="Text 38"/>
          <p:cNvSpPr/>
          <p:nvPr/>
        </p:nvSpPr>
        <p:spPr>
          <a:xfrm>
            <a:off x="4575962" y="5724144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기업별 특성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4575962" y="6016752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업종·조직·타깃 맞춤 컨설팅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8054645" y="5221224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328965" y="5340096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투명</a:t>
            </a:r>
            <a:endParaRPr lang="en-US" sz="2200" dirty="0"/>
          </a:p>
        </p:txBody>
      </p:sp>
      <p:sp>
        <p:nvSpPr>
          <p:cNvPr id="45" name="Text 42"/>
          <p:cNvSpPr/>
          <p:nvPr/>
        </p:nvSpPr>
        <p:spPr>
          <a:xfrm>
            <a:off x="8328965" y="5724144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견적 시스템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8328965" y="6016752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항목별 견적, 숨은 비용 없음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10728655" y="0"/>
            <a:ext cx="1463040" cy="548640"/>
          </a:xfrm>
          <a:prstGeom prst="rightTriangle">
            <a:avLst/>
          </a:prstGeom>
          <a:solidFill>
            <a:srgbClr val="1D74FF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/Users/dooya8787/Desktop/webslab.co.kr/.claude/worktrees/gallant-nightingale-ceeee6/public/image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4320"/>
            <a:ext cx="1645920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210312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준비되셨다면, </a:t>
            </a:r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시작하겠습니다.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32461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목적 · 예산 · 일정만 알려주세요. 1영업일 안에 회신드립니다.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297680"/>
            <a:ext cx="3545738" cy="1371600"/>
          </a:xfrm>
          <a:prstGeom prst="roundRect">
            <a:avLst>
              <a:gd name="adj" fmla="val 5333"/>
            </a:avLst>
          </a:prstGeom>
          <a:solidFill>
            <a:srgbClr val="14254A"/>
          </a:solidFill>
          <a:ln w="8890">
            <a:solidFill>
              <a:srgbClr val="1D74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44622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822960" y="5010912"/>
            <a:ext cx="29970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문의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" y="5266944"/>
            <a:ext cx="29970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webslab.co.kr/contact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322978" y="4297680"/>
            <a:ext cx="3545738" cy="1371600"/>
          </a:xfrm>
          <a:prstGeom prst="roundRect">
            <a:avLst>
              <a:gd name="adj" fmla="val 5333"/>
            </a:avLst>
          </a:prstGeom>
          <a:solidFill>
            <a:srgbClr val="14254A"/>
          </a:solidFill>
          <a:ln w="8890">
            <a:solidFill>
              <a:srgbClr val="1D74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97298" y="44622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597298" y="5010912"/>
            <a:ext cx="29970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597298" y="5266944"/>
            <a:ext cx="29970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contact@webslab.co.kr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97317" y="4297680"/>
            <a:ext cx="3545738" cy="1371600"/>
          </a:xfrm>
          <a:prstGeom prst="roundRect">
            <a:avLst>
              <a:gd name="adj" fmla="val 5333"/>
            </a:avLst>
          </a:prstGeom>
          <a:solidFill>
            <a:srgbClr val="14254A"/>
          </a:solidFill>
          <a:ln w="8890">
            <a:solidFill>
              <a:srgbClr val="1D74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71637" y="44622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☎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371637" y="5010912"/>
            <a:ext cx="29970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 · 카카오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371637" y="5266944"/>
            <a:ext cx="29970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010-9891-2787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548640" y="63550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웹슬랩  ·  대표 조현도  ·  서울특별시 강남구 역삼로3길 19 10층 1007호  ·  173-58-00764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websLAB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websLAB 회사소개서 2026</dc:title>
  <dc:subject>PptxGenJS Presentation</dc:subject>
  <dc:creator>websLAB</dc:creator>
  <cp:lastModifiedBy>websLAB</cp:lastModifiedBy>
  <cp:revision>1</cp:revision>
  <dcterms:created xsi:type="dcterms:W3CDTF">2026-06-10T00:58:46Z</dcterms:created>
  <dcterms:modified xsi:type="dcterms:W3CDTF">2026-06-10T00:58:46Z</dcterms:modified>
</cp:coreProperties>
</file>