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oya8787-Desktop-webslab-co-kr/426a2b64-a899-4a5d-af34-9900f0174f57/scratchpad/pptx/bg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private/tmp/claude-501/-Users-dooya8787-Desktop-webslab-co-kr/426a2b64-a899-4a5d-af34-9900f0174f57/scratchpad/pptx/or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206240" cy="42062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1280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 COMPANY  BROCHURE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640080" y="1645920"/>
            <a:ext cx="7040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기업의 온라인 성장을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함께하는 전문가 그룹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685800" y="3474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끝내다, </a:t>
            </a:r>
            <a:pPr indent="0" marL="0">
              <a:buNone/>
            </a:pPr>
            <a:r>
              <a:rPr lang="en-US" sz="14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685800" y="4160520"/>
            <a:ext cx="251460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90500" dist="63500" dir="5400000">
              <a:srgbClr val="9DB4DA">
                <a:alpha val="3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85800" y="427939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49377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projects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85% 재계약률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3429000" y="4279392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AEC2E0">
                <a:alpha val="2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429000" y="4261104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852160" y="4279392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612900000" dist="483870000" dir="324000000000">
              <a:srgbClr val="AEC2E0">
                <a:alpha val="220000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852160" y="4261104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 개발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489204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483830000000" dist="6145149000000" dir="19440000000000000">
              <a:srgbClr val="AEC2E0">
                <a:alpha val="22000000000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429000" y="4873752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설계 · 마이그레이션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852160" y="489204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60144641000000000" dist="78043392300000000" dir="1.1664e+21">
              <a:srgbClr val="AEC2E0">
                <a:alpha val="2200000000000000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5852160" y="4873752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리뉴얼 전문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85800" y="5897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98480" y="1371600"/>
            <a:ext cx="109728" cy="10972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0" y="1920240"/>
            <a:ext cx="64008" cy="6400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·  책임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1325880"/>
            <a:ext cx="10058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끝내다.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약속한 것은, 끝까지 책임집니다.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85800" y="3200400"/>
            <a:ext cx="640080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419350000" dist="806450000" dir="324000000000">
              <a:srgbClr val="9DB4DA">
                <a:alpha val="300000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05840" y="35204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결혼정보회사 C사 · 약 2개월간 30여 페이지의 UI/UX 디자인 작업.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114800"/>
            <a:ext cx="5760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개발팀은 어떤 상황에서도 맡은 프로젝트를 끝까지 책임지고 마무리합니다.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20인 이하 기업에서, 사내 개발팀이 없어도 걱정 없이.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05840" y="5440680"/>
            <a:ext cx="5760720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5046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개발팀 없이도, 끝까지 함께합니다.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60920" y="3200400"/>
            <a:ext cx="4160520" cy="1280160"/>
          </a:xfrm>
          <a:prstGeom prst="roundRect">
            <a:avLst>
              <a:gd name="adj" fmla="val 9286"/>
            </a:avLst>
          </a:prstGeom>
          <a:solidFill>
            <a:srgbClr val="22315C"/>
          </a:solidFill>
          <a:ln/>
          <a:effectLst>
            <a:outerShdw sx="100000" sy="100000" kx="0" ky="0" algn="bl" rotWithShape="0" blurRad="30725745000000" dist="10241915000000" dir="19440000000000000">
              <a:srgbClr val="9DB4DA">
                <a:alpha val="30000000000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35240" y="3310128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7680960" y="39776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BB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 PROJECTS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418320" y="338328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7D4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4617720"/>
            <a:ext cx="4160520" cy="1280160"/>
          </a:xfrm>
          <a:prstGeom prst="roundRect">
            <a:avLst>
              <a:gd name="adj" fmla="val 9286"/>
            </a:avLst>
          </a:prstGeom>
          <a:solidFill>
            <a:srgbClr val="EAF2FF"/>
          </a:solidFill>
          <a:ln/>
          <a:effectLst>
            <a:outerShdw sx="100000" sy="100000" kx="0" ky="0" algn="bl" rotWithShape="0" blurRad="3.3038369407e+21" dist="991151082210000000000" dir="6.9984e+25">
              <a:srgbClr val="AEC2E0">
                <a:alpha val="2.2e+24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635240" y="4754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680960" y="5394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재계약률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98480" y="1371600"/>
            <a:ext cx="109728" cy="10972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0" y="1920240"/>
            <a:ext cx="64008" cy="6400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·  실적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수많은 기업이 이미 websLAB을 선택했습니다.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프로젝트의 시작과 마무리를 책임집니다. 사내 개발팀 없이도 안심하세요.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200400"/>
            <a:ext cx="2542032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390216961500000000" dist="130072320500000000" dir="1.1664e+21">
              <a:srgbClr val="9DB4DA">
                <a:alpha val="3000000000000000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4747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AF2FF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4747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3886200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85800" y="4645152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4919472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493008" y="3200400"/>
            <a:ext cx="2542032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4.95575541105e+21" dist="1.65191847035e+21" dir="6.9984e+25">
              <a:srgbClr val="9DB4DA">
                <a:alpha val="3e+24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67328" y="34747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AF2FF"/>
          </a:solidFill>
          <a:ln/>
        </p:spPr>
      </p:sp>
      <p:sp>
        <p:nvSpPr>
          <p:cNvPr id="22" name="Text 20"/>
          <p:cNvSpPr/>
          <p:nvPr/>
        </p:nvSpPr>
        <p:spPr>
          <a:xfrm>
            <a:off x="3767328" y="34747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3886200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3493008" y="4645152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93008" y="4919472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완수율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00216" y="3200400"/>
            <a:ext cx="2542032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6.2938093720335e+25" dist="2.0979364573445003e+25" dir="4.19904e+30">
              <a:srgbClr val="9DB4DA">
                <a:alpha val="3e+29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74536" y="34747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AF2FF"/>
          </a:solidFill>
          <a:ln/>
        </p:spPr>
      </p:sp>
      <p:sp>
        <p:nvSpPr>
          <p:cNvPr id="28" name="Text 26"/>
          <p:cNvSpPr/>
          <p:nvPr/>
        </p:nvSpPr>
        <p:spPr>
          <a:xfrm>
            <a:off x="6574536" y="34747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00216" y="3886200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</a:t>
            </a:r>
            <a:pPr algn="ctr" indent="0" marL="0">
              <a:buNone/>
            </a:pPr>
            <a:r>
              <a:rPr lang="en-US" sz="1400" b="1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/ 5.0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6300216" y="4645152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Satisfaction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0216" y="4919472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만족도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107424" y="3200400"/>
            <a:ext cx="2542032" cy="2194560"/>
          </a:xfrm>
          <a:prstGeom prst="roundRect">
            <a:avLst>
              <a:gd name="adj" fmla="val 541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7.993137902482544e+29" dist="2.6643793008275154e+29" dir="2.519424e+35">
              <a:srgbClr val="9DB4DA">
                <a:alpha val="2.9999999999999997e+34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381744" y="34747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AF2FF"/>
          </a:solidFill>
          <a:ln/>
        </p:spPr>
      </p:sp>
      <p:sp>
        <p:nvSpPr>
          <p:cNvPr id="34" name="Text 32"/>
          <p:cNvSpPr/>
          <p:nvPr/>
        </p:nvSpPr>
        <p:spPr>
          <a:xfrm>
            <a:off x="9381744" y="347472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107424" y="3886200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0건</a:t>
            </a:r>
            <a:endParaRPr lang="en-US" sz="4000" dirty="0"/>
          </a:p>
        </p:txBody>
      </p:sp>
      <p:sp>
        <p:nvSpPr>
          <p:cNvPr id="36" name="Text 34"/>
          <p:cNvSpPr/>
          <p:nvPr/>
        </p:nvSpPr>
        <p:spPr>
          <a:xfrm>
            <a:off x="9107424" y="4645152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107424" y="4919472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85800" y="576072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completion rate, satisfaction, and security records measured across all engagements since 2022.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98480" y="1371600"/>
            <a:ext cx="109728" cy="10972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0" y="1920240"/>
            <a:ext cx="64008" cy="6400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 INFO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 INFO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누구인가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85800" y="2606040"/>
            <a:ext cx="4160520" cy="3383280"/>
          </a:xfrm>
          <a:prstGeom prst="roundRect">
            <a:avLst>
              <a:gd name="adj" fmla="val 3514"/>
            </a:avLst>
          </a:prstGeom>
          <a:solidFill>
            <a:srgbClr val="22315C"/>
          </a:solidFill>
          <a:ln/>
          <a:effectLst>
            <a:outerShdw sx="100000" sy="100000" kx="0" ky="0" algn="bl" rotWithShape="0" blurRad="1.0151285136152832e+34" dist="3.3837617120509443e+33" dir="1.5116544e+40">
              <a:srgbClr val="9DB4DA">
                <a:alpha val="3e+39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05840" y="2926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24128" y="3520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DBB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 Studio for B2B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93192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D4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신규 제작·리뉴얼 전문 에이전시.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D4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운영까지 한 팀에서 완결합니다.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05840" y="5029200"/>
            <a:ext cx="833887" cy="310896"/>
          </a:xfrm>
          <a:prstGeom prst="roundRect">
            <a:avLst>
              <a:gd name="adj" fmla="val 50000"/>
            </a:avLst>
          </a:prstGeom>
          <a:solidFill>
            <a:srgbClr val="2E4372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010912"/>
            <a:ext cx="83388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976887" y="5029200"/>
            <a:ext cx="1165723" cy="310896"/>
          </a:xfrm>
          <a:prstGeom prst="roundRect">
            <a:avLst>
              <a:gd name="adj" fmla="val 50000"/>
            </a:avLst>
          </a:prstGeom>
          <a:solidFill>
            <a:srgbClr val="2E4372"/>
          </a:solidFill>
          <a:ln/>
        </p:spPr>
      </p:sp>
      <p:sp>
        <p:nvSpPr>
          <p:cNvPr id="21" name="Text 19"/>
          <p:cNvSpPr/>
          <p:nvPr/>
        </p:nvSpPr>
        <p:spPr>
          <a:xfrm>
            <a:off x="1976887" y="5010912"/>
            <a:ext cx="11657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Headless CMS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05840" y="5440680"/>
            <a:ext cx="1165723" cy="310896"/>
          </a:xfrm>
          <a:prstGeom prst="roundRect">
            <a:avLst>
              <a:gd name="adj" fmla="val 50000"/>
            </a:avLst>
          </a:prstGeom>
          <a:solidFill>
            <a:srgbClr val="2E43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422392"/>
            <a:ext cx="11657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Edge Hosting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08723" y="5440680"/>
            <a:ext cx="545485" cy="310896"/>
          </a:xfrm>
          <a:prstGeom prst="roundRect">
            <a:avLst>
              <a:gd name="adj" fmla="val 50000"/>
            </a:avLst>
          </a:prstGeom>
          <a:solidFill>
            <a:srgbClr val="2E4372"/>
          </a:solidFill>
          <a:ln/>
        </p:spPr>
      </p:sp>
      <p:sp>
        <p:nvSpPr>
          <p:cNvPr id="25" name="Text 23"/>
          <p:cNvSpPr/>
          <p:nvPr/>
        </p:nvSpPr>
        <p:spPr>
          <a:xfrm>
            <a:off x="2308723" y="5422392"/>
            <a:ext cx="5454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74920" y="2606040"/>
            <a:ext cx="6446520" cy="3383280"/>
          </a:xfrm>
          <a:prstGeom prst="roundRect">
            <a:avLst>
              <a:gd name="adj" fmla="val 3514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2892132122914096e+38" dist="4.297377374304699e+37" dir="9.069926400000001e+44">
              <a:srgbClr val="9DB4DA">
                <a:alpha val="3e+44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40680" y="285292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 분야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498080" y="2852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 · 웹사이트 개발 · DB 설계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40680" y="3218688"/>
            <a:ext cx="5806440" cy="0"/>
          </a:xfrm>
          <a:prstGeom prst="line">
            <a:avLst/>
          </a:prstGeom>
          <a:noFill/>
          <a:ln w="9525">
            <a:solidFill>
              <a:srgbClr val="E2EC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40680" y="32186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98080" y="3218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조현도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40680" y="3584448"/>
            <a:ext cx="5806440" cy="0"/>
          </a:xfrm>
          <a:prstGeom prst="line">
            <a:avLst/>
          </a:prstGeom>
          <a:noFill/>
          <a:ln w="9525">
            <a:solidFill>
              <a:srgbClr val="E2ECF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0680" y="35844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사업자등록번호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0" y="3584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173-58-00764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40680" y="3950208"/>
            <a:ext cx="5806440" cy="0"/>
          </a:xfrm>
          <a:prstGeom prst="line">
            <a:avLst/>
          </a:prstGeom>
          <a:noFill/>
          <a:ln w="9525">
            <a:solidFill>
              <a:srgbClr val="E2ECF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40680" y="39502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 인원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498080" y="395020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6명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40680" y="4315968"/>
            <a:ext cx="5806440" cy="0"/>
          </a:xfrm>
          <a:prstGeom prst="line">
            <a:avLst/>
          </a:prstGeom>
          <a:noFill/>
          <a:ln w="9525">
            <a:solidFill>
              <a:srgbClr val="E2ECF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0680" y="431596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498080" y="431596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 강남구 역삼로3길 19, 10층 1007호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40680" y="4681728"/>
            <a:ext cx="5806440" cy="0"/>
          </a:xfrm>
          <a:prstGeom prst="line">
            <a:avLst/>
          </a:prstGeom>
          <a:noFill/>
          <a:ln w="9525">
            <a:solidFill>
              <a:srgbClr val="E2ECF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40680" y="468172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498080" y="46817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440680" y="5047488"/>
            <a:ext cx="5806440" cy="0"/>
          </a:xfrm>
          <a:prstGeom prst="line">
            <a:avLst/>
          </a:prstGeom>
          <a:noFill/>
          <a:ln w="9525">
            <a:solidFill>
              <a:srgbClr val="E2ECF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40680" y="50474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498080" y="50474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440680" y="5413248"/>
            <a:ext cx="5806440" cy="0"/>
          </a:xfrm>
          <a:prstGeom prst="line">
            <a:avLst/>
          </a:prstGeom>
          <a:noFill/>
          <a:ln w="9525">
            <a:solidFill>
              <a:srgbClr val="E2ECF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40680" y="54132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498080" y="54132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98480" y="1371600"/>
            <a:ext cx="109728" cy="10972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0" y="1920240"/>
            <a:ext cx="64008" cy="6400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SERVICES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SERVICES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팀에서, 끝까지.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디자인, 개발, 운영까지 — 모든 단계를 직접 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2514600"/>
            <a:ext cx="3502152" cy="3429000"/>
          </a:xfrm>
          <a:prstGeom prst="roundRect">
            <a:avLst>
              <a:gd name="adj" fmla="val 346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6373007796100903e+42" dist="5.457669265366968e+41" dir="5.44195584e+49">
              <a:srgbClr val="9DB4DA">
                <a:alpha val="2.9999999999999997e+49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05840" y="2834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F2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81912" y="2898648"/>
            <a:ext cx="2404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BUILD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3447288"/>
            <a:ext cx="2862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신규 제작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05840" y="3931920"/>
            <a:ext cx="2953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브랜드의 첫 디지털 인상을 설계합니다.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UI/UX·디자인·개발·운영까지 한 팀.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05840" y="4800600"/>
            <a:ext cx="2862072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" y="5033772"/>
            <a:ext cx="82296" cy="822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23" name="Text 21"/>
          <p:cNvSpPr/>
          <p:nvPr/>
        </p:nvSpPr>
        <p:spPr>
          <a:xfrm>
            <a:off x="1188720" y="4928616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기획 · 정보 구조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05840" y="5362956"/>
            <a:ext cx="82296" cy="822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25" name="Text 23"/>
          <p:cNvSpPr/>
          <p:nvPr/>
        </p:nvSpPr>
        <p:spPr>
          <a:xfrm>
            <a:off x="1188720" y="5257800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맞춤 디자인 · CMS 구축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05840" y="5692140"/>
            <a:ext cx="82296" cy="822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27" name="Text 25"/>
          <p:cNvSpPr/>
          <p:nvPr/>
        </p:nvSpPr>
        <p:spPr>
          <a:xfrm>
            <a:off x="1188720" y="5586984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 2주 무상 안정화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61688" y="2514600"/>
            <a:ext cx="3502152" cy="3429000"/>
          </a:xfrm>
          <a:prstGeom prst="roundRect">
            <a:avLst>
              <a:gd name="adj" fmla="val 346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0793719901048148e+46" dist="6.93123996701605e+45" dir="3.2651735040000005e+54">
              <a:srgbClr val="9DB4DA">
                <a:alpha val="2.9999999999999996e+5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81728" y="2834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F2FF"/>
          </a:solidFill>
          <a:ln/>
        </p:spPr>
      </p:sp>
      <p:sp>
        <p:nvSpPr>
          <p:cNvPr id="30" name="Text 28"/>
          <p:cNvSpPr/>
          <p:nvPr/>
        </p:nvSpPr>
        <p:spPr>
          <a:xfrm>
            <a:off x="4681728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257800" y="2898648"/>
            <a:ext cx="2404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RENEWAL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81728" y="3447288"/>
            <a:ext cx="2862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리뉴얼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4681728" y="3931920"/>
            <a:ext cx="2953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콘텐츠는 살리고 구조만 새로 짭니다.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SEO·도메인 권위 손실 없이.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81728" y="4800600"/>
            <a:ext cx="2862072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81728" y="5033772"/>
            <a:ext cx="82296" cy="822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36" name="Text 34"/>
          <p:cNvSpPr/>
          <p:nvPr/>
        </p:nvSpPr>
        <p:spPr>
          <a:xfrm>
            <a:off x="4864608" y="4928616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손실 없는 마이그레이션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681728" y="5362956"/>
            <a:ext cx="82296" cy="822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38" name="Text 36"/>
          <p:cNvSpPr/>
          <p:nvPr/>
        </p:nvSpPr>
        <p:spPr>
          <a:xfrm>
            <a:off x="4864608" y="5257800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301 리다이렉트 매핑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681728" y="5692140"/>
            <a:ext cx="82296" cy="822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40" name="Text 38"/>
          <p:cNvSpPr/>
          <p:nvPr/>
        </p:nvSpPr>
        <p:spPr>
          <a:xfrm>
            <a:off x="4864608" y="5586984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운영 데이터 이관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037576" y="2514600"/>
            <a:ext cx="3502152" cy="3429000"/>
          </a:xfrm>
          <a:prstGeom prst="roundRect">
            <a:avLst>
              <a:gd name="adj" fmla="val 346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6408024274331147e+50" dist="8.802674758110384e+49" dir="1.9591041024000004e+59">
              <a:srgbClr val="9DB4DA">
                <a:alpha val="2.9999999999999996e+59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357616" y="2834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F2FF"/>
          </a:solidFill>
          <a:ln/>
        </p:spPr>
      </p:sp>
      <p:sp>
        <p:nvSpPr>
          <p:cNvPr id="43" name="Text 41"/>
          <p:cNvSpPr/>
          <p:nvPr/>
        </p:nvSpPr>
        <p:spPr>
          <a:xfrm>
            <a:off x="8357616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933688" y="2898648"/>
            <a:ext cx="2404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57616" y="3447288"/>
            <a:ext cx="2862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· 유지보수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8357616" y="3931920"/>
            <a:ext cx="2953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후가 진짜 시작.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안정성·보안·콘텐츠를 함께 책임집니다.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357616" y="4800600"/>
            <a:ext cx="2862072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357616" y="5033772"/>
            <a:ext cx="82296" cy="822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49" name="Text 47"/>
          <p:cNvSpPr/>
          <p:nvPr/>
        </p:nvSpPr>
        <p:spPr>
          <a:xfrm>
            <a:off x="8540496" y="4928616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 즉각 대응 체계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357616" y="5362956"/>
            <a:ext cx="82296" cy="822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51" name="Text 49"/>
          <p:cNvSpPr/>
          <p:nvPr/>
        </p:nvSpPr>
        <p:spPr>
          <a:xfrm>
            <a:off x="8540496" y="5257800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백업 · 보안 업데이트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357616" y="5692140"/>
            <a:ext cx="82296" cy="822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53" name="Text 51"/>
          <p:cNvSpPr/>
          <p:nvPr/>
        </p:nvSpPr>
        <p:spPr>
          <a:xfrm>
            <a:off x="8540496" y="5586984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업데이트 지원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98480" y="1371600"/>
            <a:ext cx="109728" cy="10972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0" y="1920240"/>
            <a:ext cx="64008" cy="6400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PROCESS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PROCESS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전부터 함께, 오픈 후에도 함께.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6단계 표준 프로세스. 매 단계마다 의사결정자가 보고 결정합니다.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2514600"/>
            <a:ext cx="3502152" cy="1417320"/>
          </a:xfrm>
          <a:prstGeom prst="roundRect">
            <a:avLst>
              <a:gd name="adj" fmla="val 838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4.1958729146890005e+25" dist="1.2587618744067e+25" dir="4.19904e+30">
              <a:srgbClr val="AEC2E0">
                <a:alpha val="2.2e+29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78408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6FD4"/>
          </a:solidFill>
          <a:ln/>
        </p:spPr>
      </p:sp>
      <p:sp>
        <p:nvSpPr>
          <p:cNvPr id="17" name="Text 15"/>
          <p:cNvSpPr/>
          <p:nvPr/>
        </p:nvSpPr>
        <p:spPr>
          <a:xfrm>
            <a:off x="978408" y="28072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81912" y="2788920"/>
            <a:ext cx="2404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· 상담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81912" y="3172968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· 예산 · 일정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· 경쟁사 파악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361688" y="2514600"/>
            <a:ext cx="3502152" cy="1417320"/>
          </a:xfrm>
          <a:prstGeom prst="roundRect">
            <a:avLst>
              <a:gd name="adj" fmla="val 838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5.328758601655031e+29" dist="1.598627580496509e+29" dir="2.519424e+35">
              <a:srgbClr val="AEC2E0">
                <a:alpha val="2.2e+34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54296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6FD4"/>
          </a:solidFill>
          <a:ln/>
        </p:spPr>
      </p:sp>
      <p:sp>
        <p:nvSpPr>
          <p:cNvPr id="22" name="Text 20"/>
          <p:cNvSpPr/>
          <p:nvPr/>
        </p:nvSpPr>
        <p:spPr>
          <a:xfrm>
            <a:off x="4654296" y="28072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257800" y="2788920"/>
            <a:ext cx="2404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적합성 검토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57800" y="3172968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리뷰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솔직한 방향 제안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37576" y="2514600"/>
            <a:ext cx="3502152" cy="1417320"/>
          </a:xfrm>
          <a:prstGeom prst="roundRect">
            <a:avLst>
              <a:gd name="adj" fmla="val 838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6.767523424101889e+33" dist="2.0302570272305663e+33" dir="1.5116544e+40">
              <a:srgbClr val="AEC2E0">
                <a:alpha val="2.2e+39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3018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6FD4"/>
          </a:solidFill>
          <a:ln/>
        </p:spPr>
      </p:sp>
      <p:sp>
        <p:nvSpPr>
          <p:cNvPr id="27" name="Text 25"/>
          <p:cNvSpPr/>
          <p:nvPr/>
        </p:nvSpPr>
        <p:spPr>
          <a:xfrm>
            <a:off x="8330184" y="28072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933688" y="2788920"/>
            <a:ext cx="2404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 제작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933688" y="3172968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메인 시안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 결정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5800" y="4133088"/>
            <a:ext cx="3502152" cy="1417320"/>
          </a:xfrm>
          <a:prstGeom prst="roundRect">
            <a:avLst>
              <a:gd name="adj" fmla="val 838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8.594754748609398e+37" dist="2.578426424582819e+37" dir="9.069926400000001e+44">
              <a:srgbClr val="AEC2E0">
                <a:alpha val="2.2e+44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78408" y="442569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6FD4"/>
          </a:solidFill>
          <a:ln/>
        </p:spPr>
      </p:sp>
      <p:sp>
        <p:nvSpPr>
          <p:cNvPr id="32" name="Text 30"/>
          <p:cNvSpPr/>
          <p:nvPr/>
        </p:nvSpPr>
        <p:spPr>
          <a:xfrm>
            <a:off x="978408" y="44256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581912" y="4407408"/>
            <a:ext cx="2404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· 킥오프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581912" y="4791456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· 일정 확정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361688" y="4133088"/>
            <a:ext cx="3502152" cy="1417320"/>
          </a:xfrm>
          <a:prstGeom prst="roundRect">
            <a:avLst>
              <a:gd name="adj" fmla="val 838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0915338530733936e+42" dist="3.2746015592201804e+41" dir="5.44195584e+49">
              <a:srgbClr val="AEC2E0">
                <a:alpha val="2.2e+49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54296" y="442569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6FD4"/>
          </a:solidFill>
          <a:ln/>
        </p:spPr>
      </p:sp>
      <p:sp>
        <p:nvSpPr>
          <p:cNvPr id="37" name="Text 35"/>
          <p:cNvSpPr/>
          <p:nvPr/>
        </p:nvSpPr>
        <p:spPr>
          <a:xfrm>
            <a:off x="4654296" y="44256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257800" y="4407408"/>
            <a:ext cx="2404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· 개발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57800" y="4791456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진행 공유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스테이징 검수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037576" y="4133088"/>
            <a:ext cx="3502152" cy="1417320"/>
          </a:xfrm>
          <a:prstGeom prst="roundRect">
            <a:avLst>
              <a:gd name="adj" fmla="val 8387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38624799340321e+46" dist="4.158743980209629e+45" dir="3.2651735040000005e+54">
              <a:srgbClr val="AEC2E0">
                <a:alpha val="2.2e+54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330184" y="442569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6FD4"/>
          </a:solidFill>
          <a:ln/>
        </p:spPr>
      </p:sp>
      <p:sp>
        <p:nvSpPr>
          <p:cNvPr id="42" name="Text 40"/>
          <p:cNvSpPr/>
          <p:nvPr/>
        </p:nvSpPr>
        <p:spPr>
          <a:xfrm>
            <a:off x="8330184" y="44256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933688" y="4407408"/>
            <a:ext cx="2404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· 케어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933688" y="4791456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실서버 배포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안정화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85800" y="5532120"/>
            <a:ext cx="10835640" cy="658368"/>
          </a:xfrm>
          <a:prstGeom prst="roundRect">
            <a:avLst>
              <a:gd name="adj" fmla="val 18056"/>
            </a:avLst>
          </a:prstGeom>
          <a:solidFill>
            <a:srgbClr val="F5F9FF"/>
          </a:solidFill>
          <a:ln/>
        </p:spPr>
      </p:sp>
      <p:sp>
        <p:nvSpPr>
          <p:cNvPr id="46" name="Shape 44"/>
          <p:cNvSpPr/>
          <p:nvPr/>
        </p:nvSpPr>
        <p:spPr>
          <a:xfrm>
            <a:off x="960120" y="5733288"/>
            <a:ext cx="670712" cy="310896"/>
          </a:xfrm>
          <a:prstGeom prst="roundRect">
            <a:avLst>
              <a:gd name="adj" fmla="val 50000"/>
            </a:avLst>
          </a:prstGeom>
          <a:solidFill>
            <a:srgbClr val="3B6FD4"/>
          </a:solidFill>
          <a:ln/>
        </p:spPr>
      </p:sp>
      <p:sp>
        <p:nvSpPr>
          <p:cNvPr id="47" name="Text 45"/>
          <p:cNvSpPr/>
          <p:nvPr/>
        </p:nvSpPr>
        <p:spPr>
          <a:xfrm>
            <a:off x="960120" y="5715000"/>
            <a:ext cx="6707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POINT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828800" y="5532120"/>
            <a:ext cx="9509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시안 단계까지는 의사결정자가 보고 결정합니다. 진행 중 매주 자료로 공유, 오픈 후 2주 안정화까지 책임.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98480" y="1371600"/>
            <a:ext cx="109728" cy="10972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0" y="1920240"/>
            <a:ext cx="64008" cy="6400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CLIENTS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CLIENTS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일한 110+ 기업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· 금융 · 제조 · 의료 · SaaS · 물류까지, 다양한 산업의 기업이 websLAB을 선택했습니다.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2880360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7605349516220767e+50" dist="5.281604854866228e+49" dir="1.9591041024000004e+59">
              <a:srgbClr val="AEC2E0">
                <a:alpha val="2.2e+59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2880360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49424" y="2880360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2358793885600375e+54" dist="6.70763816568011e+53" dir="1.1754624614400003e+64">
              <a:srgbClr val="AEC2E0">
                <a:alpha val="2.2e+64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95144" y="2880360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OECD Korea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813048" y="2880360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839566823471248e+58" dist="8.518700470413739e+57" dir="7.052774768640002e+68">
              <a:srgbClr val="AEC2E0">
                <a:alpha val="2.2e+69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858768" y="2880360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한일원자력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76672" y="2880360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3.606249865808485e+62" dist="1.081874959742545e+62" dir="4.2316648611840007e+73">
              <a:srgbClr val="AEC2E0">
                <a:alpha val="2.2e+74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22392" y="2880360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40296" y="2880360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4.579937329576776e+66" dist="1.373981198873032e+66" dir="2.5389989167104004e+78">
              <a:srgbClr val="AEC2E0">
                <a:alpha val="2.2000000000000002e+79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986016" y="2880360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503920" y="2880360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5.816520408562505e+70" dist="1.7449561225687507e+70" dir="1.5233993500262402e+83">
              <a:srgbClr val="AEC2E0">
                <a:alpha val="2.2000000000000003e+84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49640" y="2880360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크리스천메이트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067544" y="2880360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7.386980918874382e+74" dist="2.2160942756623134e+74" dir="9.14039610015744e+87">
              <a:srgbClr val="AEC2E0">
                <a:alpha val="2.2000000000000003e+89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113264" y="2880360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식약처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" y="3867912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9.381465766970464e+78" dist="2.814439730091138e+78" dir="5.484237660094465e+92">
              <a:srgbClr val="AEC2E0">
                <a:alpha val="2.2e+94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31520" y="3867912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49424" y="3867912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191446152405249e+83" dist="3.574338457215745e+82" dir="3.2905425960566786e+97">
              <a:srgbClr val="AEC2E0">
                <a:alpha val="2.2000000000000003e+99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295144" y="3867912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디알코디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813048" y="3867912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5131366135546663e+87" dist="4.539409840663996e+86" dir="1.9743255576340073e+102">
              <a:srgbClr val="AEC2E0">
                <a:alpha val="2.2000000000000003e+104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858768" y="3867912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브레인맵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76672" y="3867912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9216834992144262e+91" dist="5.765050497643275e+90" dir="1.1845953345804043e+107">
              <a:srgbClr val="AEC2E0">
                <a:alpha val="2.2000000000000003e+109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22392" y="3867912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문화체육관광부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940296" y="3867912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4405380440023213e+95" dist="7.321614132006959e+94" dir="7.107572007482426e+111">
              <a:srgbClr val="AEC2E0">
                <a:alpha val="2.2000000000000003e+114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86016" y="3867912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503920" y="3867912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3.099483315882948e+99" dist="9.298449947648839e+98" dir="4.2645432044894554e+116">
              <a:srgbClr val="AEC2E0">
                <a:alpha val="2.2000000000000005e+119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549640" y="3867912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067544" y="3867912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3.9363438111713435e+103" dist="1.1809031433514024e+103" dir="2.5587259226936733e+121">
              <a:srgbClr val="AEC2E0">
                <a:alpha val="2.2000000000000006e+124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0113264" y="3867912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85800" y="4855464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4.9991566401876064e+107" dist="1.499746992056281e+107" dir="1.535235553616204e+126">
              <a:srgbClr val="AEC2E0">
                <a:alpha val="2.2000000000000006e+129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31520" y="4855464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249424" y="4855464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6.34892893303826e+111" dist="1.904678679911477e+111" dir="9.211413321697224e+130">
              <a:srgbClr val="AEC2E0">
                <a:alpha val="2.2000000000000004e+134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295144" y="4855464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Virex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813048" y="4855464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8.063139744958591e+115" dist="2.418941923487576e+115" dir="5.526847993018334e+135">
              <a:srgbClr val="AEC2E0">
                <a:alpha val="2.2000000000000005e+139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858768" y="4855464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S-COM Tech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376672" y="4855464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024018747609741e+120" dist="3.0720562428292216e+119" dir="3.3161087958110005e+140">
              <a:srgbClr val="AEC2E0">
                <a:alpha val="2.2000000000000006e+144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422392" y="4855464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Nordinary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940296" y="4855464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300503809464371e+124" dist="3.9015114283931116e+123" dir="1.9896652774866004e+145">
              <a:srgbClr val="AEC2E0">
                <a:alpha val="2.2000000000000004e+149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6986016" y="4855464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503920" y="4855464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6516398380197513e+128" dist="4.954919514059251e+127" dir="1.1937991664919603e+150">
              <a:srgbClr val="AEC2E0">
                <a:alpha val="2.2000000000000004e+154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549640" y="4855464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에코커피컴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10067544" y="4855464"/>
            <a:ext cx="1444752" cy="841248"/>
          </a:xfrm>
          <a:prstGeom prst="roundRect">
            <a:avLst>
              <a:gd name="adj" fmla="val 10870"/>
            </a:avLst>
          </a:prstGeom>
          <a:solidFill>
            <a:srgbClr val="F5F9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0975825942850843e+132" dist="6.2927477828552495e+131" dir="7.162794998951762e+154">
              <a:srgbClr val="AEC2E0">
                <a:alpha val="2.2000000000000003e+159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0113264" y="4855464"/>
            <a:ext cx="135331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과학의전당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01 of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0" y="68580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11" name="Text 9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/ MUSIC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코스모스악기 · Roland Korea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사이트 신규 제작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6172200" cy="2788920"/>
          </a:xfrm>
          <a:prstGeom prst="roundRect">
            <a:avLst>
              <a:gd name="adj" fmla="val 4262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3.353819082840056e+54" dist="1.1179396942800187e+54" dir="1.1754624614400003e+64">
              <a:srgbClr val="9DB4DA">
                <a:alpha val="2.9999999999999996e+64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310128"/>
            <a:ext cx="1504371" cy="310896"/>
          </a:xfrm>
          <a:prstGeom prst="roundRect">
            <a:avLst>
              <a:gd name="adj" fmla="val 50000"/>
            </a:avLst>
          </a:prstGeom>
          <a:solidFill>
            <a:srgbClr val="3B6FD4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291840"/>
            <a:ext cx="150437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" y="3840480"/>
            <a:ext cx="5669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Roland 글로벌 브랜드의 한국 공식 사이트.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카탈로그 · 영상 · 뉴스를 마케팅 팀이 직접 운영하도록 CMS 기반으로 신규 구축.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0120" y="5074920"/>
            <a:ext cx="102499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056632"/>
            <a:ext cx="10249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신규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22277" y="5074920"/>
            <a:ext cx="124824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1" name="Text 19"/>
          <p:cNvSpPr/>
          <p:nvPr/>
        </p:nvSpPr>
        <p:spPr>
          <a:xfrm>
            <a:off x="2122277" y="5056632"/>
            <a:ext cx="124824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사이트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507684" y="5074920"/>
            <a:ext cx="880796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3" name="Text 21"/>
          <p:cNvSpPr/>
          <p:nvPr/>
        </p:nvSpPr>
        <p:spPr>
          <a:xfrm>
            <a:off x="3507684" y="5056632"/>
            <a:ext cx="8807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 구축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25640" y="5074920"/>
            <a:ext cx="1394186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5" name="Text 23"/>
          <p:cNvSpPr/>
          <p:nvPr/>
        </p:nvSpPr>
        <p:spPr>
          <a:xfrm>
            <a:off x="4525640" y="5056632"/>
            <a:ext cx="13941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미디어 큐레이션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132320" y="3063240"/>
            <a:ext cx="4389120" cy="2788920"/>
          </a:xfrm>
          <a:prstGeom prst="roundRect">
            <a:avLst>
              <a:gd name="adj" fmla="val 4262"/>
            </a:avLst>
          </a:prstGeom>
          <a:solidFill>
            <a:srgbClr val="F5F9FF"/>
          </a:solidFill>
          <a:ln/>
          <a:effectLst>
            <a:outerShdw sx="100000" sy="100000" kx="0" ky="0" algn="bl" rotWithShape="0" blurRad="2.663929894742057e+136" dist="7.991789684226167e+135" dir="4.297676999371057e+159">
              <a:srgbClr val="AEC2E0">
                <a:alpha val="2.2000000000000003e+164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52360" y="32918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52360" y="35021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2024.12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52360" y="41879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· 음악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52360" y="4681728"/>
            <a:ext cx="3749040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47548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50749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카테고리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92640" y="507492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52360" y="54406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모듈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92640" y="544068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02 of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0" y="68580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11" name="Text 9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MANUFACTURING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바이렉스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6172200" cy="2788920"/>
          </a:xfrm>
          <a:prstGeom prst="roundRect">
            <a:avLst>
              <a:gd name="adj" fmla="val 4262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4.259350235206871e+58" dist="1.419783411735624e+58" dir="7.052774768640002e+68">
              <a:srgbClr val="9DB4DA">
                <a:alpha val="2.9999999999999995e+69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310128"/>
            <a:ext cx="1504371" cy="310896"/>
          </a:xfrm>
          <a:prstGeom prst="roundRect">
            <a:avLst>
              <a:gd name="adj" fmla="val 50000"/>
            </a:avLst>
          </a:prstGeom>
          <a:solidFill>
            <a:srgbClr val="3B6FD4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291840"/>
            <a:ext cx="150437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" y="3840480"/>
            <a:ext cx="5669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1,700개 산업용 상품 카탈로그를 검색 친화적으로 재구성.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· 상세 페이지 템플릿을 재설계했습니다.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0120" y="5212080"/>
            <a:ext cx="1170935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193792"/>
            <a:ext cx="11709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68215" y="5212080"/>
            <a:ext cx="1026734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1" name="Text 19"/>
          <p:cNvSpPr/>
          <p:nvPr/>
        </p:nvSpPr>
        <p:spPr>
          <a:xfrm>
            <a:off x="2268215" y="5193792"/>
            <a:ext cx="102673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최적화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432109" y="5212080"/>
            <a:ext cx="880796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3" name="Text 21"/>
          <p:cNvSpPr/>
          <p:nvPr/>
        </p:nvSpPr>
        <p:spPr>
          <a:xfrm>
            <a:off x="3432109" y="5193792"/>
            <a:ext cx="8807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 구축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132320" y="3063240"/>
            <a:ext cx="4389120" cy="2788920"/>
          </a:xfrm>
          <a:prstGeom prst="roundRect">
            <a:avLst>
              <a:gd name="adj" fmla="val 4262"/>
            </a:avLst>
          </a:prstGeom>
          <a:solidFill>
            <a:srgbClr val="F5F9FF"/>
          </a:solidFill>
          <a:ln/>
          <a:effectLst>
            <a:outerShdw sx="100000" sy="100000" kx="0" ky="0" algn="bl" rotWithShape="0" blurRad="3.3831909663224124e+140" dist="1.0149572898967231e+140" dir="2.5786061996226343e+164">
              <a:srgbClr val="AEC2E0">
                <a:alpha val="2.2000000000000004e+169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52360" y="32918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52360" y="35021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2024.12 – 2025.07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452360" y="39776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52360" y="41879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452360" y="4681728"/>
            <a:ext cx="3749040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52360" y="47548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452360" y="50109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유입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692640" y="5010912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+214%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52360" y="528523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인덱싱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92640" y="5285232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1,712건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52360" y="55595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세션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92640" y="5559552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03 of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0" y="68580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11" name="Text 9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LOGISTICS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IMPEX GLS, INC.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6172200" cy="2788920"/>
          </a:xfrm>
          <a:prstGeom prst="roundRect">
            <a:avLst>
              <a:gd name="adj" fmla="val 4262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5.409374798712726e+62" dist="1.8031249329042424e+62" dir="4.2316648611840007e+73">
              <a:srgbClr val="9DB4DA">
                <a:alpha val="2.9999999999999995e+74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310128"/>
            <a:ext cx="1504371" cy="310896"/>
          </a:xfrm>
          <a:prstGeom prst="roundRect">
            <a:avLst>
              <a:gd name="adj" fmla="val 50000"/>
            </a:avLst>
          </a:prstGeom>
          <a:solidFill>
            <a:srgbClr val="3B6FD4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291840"/>
            <a:ext cx="150437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" y="3840480"/>
            <a:ext cx="5669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세계 12개국 네트워크를 시각화.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서비스별 케이스 스터디를 강조한 구조로 재편했습니다.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0120" y="5212080"/>
            <a:ext cx="1170935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193792"/>
            <a:ext cx="11709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68215" y="5212080"/>
            <a:ext cx="124824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1" name="Text 19"/>
          <p:cNvSpPr/>
          <p:nvPr/>
        </p:nvSpPr>
        <p:spPr>
          <a:xfrm>
            <a:off x="2268215" y="5193792"/>
            <a:ext cx="124824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디자인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3622" y="5212080"/>
            <a:ext cx="1394186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3" name="Text 21"/>
          <p:cNvSpPr/>
          <p:nvPr/>
        </p:nvSpPr>
        <p:spPr>
          <a:xfrm>
            <a:off x="3653622" y="5193792"/>
            <a:ext cx="13941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퍼블리싱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132320" y="3063240"/>
            <a:ext cx="4389120" cy="2788920"/>
          </a:xfrm>
          <a:prstGeom prst="roundRect">
            <a:avLst>
              <a:gd name="adj" fmla="val 4262"/>
            </a:avLst>
          </a:prstGeom>
          <a:solidFill>
            <a:srgbClr val="F5F9FF"/>
          </a:solidFill>
          <a:ln/>
          <a:effectLst>
            <a:outerShdw sx="100000" sy="100000" kx="0" ky="0" algn="bl" rotWithShape="0" blurRad="4.296652527229464e+144" dist="1.2889957581688384e+144" dir="1.5471637197735807e+169">
              <a:srgbClr val="AEC2E0">
                <a:alpha val="2.2e+174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52360" y="32918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52360" y="35021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2025.05 – 2025.07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452360" y="39776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52360" y="41879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452360" y="4681728"/>
            <a:ext cx="3749040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52360" y="47548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452360" y="50749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체류시간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692640" y="507492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+62%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52360" y="54406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전환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92640" y="544068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04 of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0" y="68580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11" name="Text 9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MANUFACTURING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 코리아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사이트 신규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6172200" cy="2788920"/>
          </a:xfrm>
          <a:prstGeom prst="roundRect">
            <a:avLst>
              <a:gd name="adj" fmla="val 4262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6.869905994365162e+66" dist="2.289968664788388e+66" dir="2.5389989167104004e+78">
              <a:srgbClr val="9DB4DA">
                <a:alpha val="3e+79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310128"/>
            <a:ext cx="1504371" cy="310896"/>
          </a:xfrm>
          <a:prstGeom prst="roundRect">
            <a:avLst>
              <a:gd name="adj" fmla="val 50000"/>
            </a:avLst>
          </a:prstGeom>
          <a:solidFill>
            <a:srgbClr val="3B6FD4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291840"/>
            <a:ext cx="150437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" y="3840480"/>
            <a:ext cx="5669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공압 부품 3,000개의 카탈로그를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카테고리별 검색 · 비교 · 문의 가능한 구조로 설계했습니다.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0120" y="5074920"/>
            <a:ext cx="621060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056632"/>
            <a:ext cx="6210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718340" y="5074920"/>
            <a:ext cx="689686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1" name="Text 19"/>
          <p:cNvSpPr/>
          <p:nvPr/>
        </p:nvSpPr>
        <p:spPr>
          <a:xfrm>
            <a:off x="1718340" y="5056632"/>
            <a:ext cx="6896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545187" y="5074920"/>
            <a:ext cx="808695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3" name="Text 21"/>
          <p:cNvSpPr/>
          <p:nvPr/>
        </p:nvSpPr>
        <p:spPr>
          <a:xfrm>
            <a:off x="2545187" y="5056632"/>
            <a:ext cx="8086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DB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491042" y="5074920"/>
            <a:ext cx="545485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5" name="Text 23"/>
          <p:cNvSpPr/>
          <p:nvPr/>
        </p:nvSpPr>
        <p:spPr>
          <a:xfrm>
            <a:off x="3491042" y="5056632"/>
            <a:ext cx="5454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132320" y="3063240"/>
            <a:ext cx="4389120" cy="2788920"/>
          </a:xfrm>
          <a:prstGeom prst="roundRect">
            <a:avLst>
              <a:gd name="adj" fmla="val 4262"/>
            </a:avLst>
          </a:prstGeom>
          <a:solidFill>
            <a:srgbClr val="F5F9FF"/>
          </a:solidFill>
          <a:ln/>
          <a:effectLst>
            <a:outerShdw sx="100000" sy="100000" kx="0" ky="0" algn="bl" rotWithShape="0" blurRad="5.456748709581419e+148" dist="1.6370246128744248e+148" dir="9.282982318641485e+173">
              <a:srgbClr val="AEC2E0">
                <a:alpha val="2.2000000000000003e+179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52360" y="32918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52360" y="35021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2024.12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52360" y="41879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52360" y="4681728"/>
            <a:ext cx="3749040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47548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50749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인덱싱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92640" y="507492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3,000+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52360" y="54406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오가닉 트래픽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92640" y="544068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+125%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05 of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0" y="68580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11" name="Text 9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SOLUTION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플랫폼 사이트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6172200" cy="2788920"/>
          </a:xfrm>
          <a:prstGeom prst="roundRect">
            <a:avLst>
              <a:gd name="adj" fmla="val 4262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8.724780612843756e+70" dist="2.908260204281253e+70" dir="1.5233993500262402e+83">
              <a:srgbClr val="9DB4DA">
                <a:alpha val="2.9999999999999995e+84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310128"/>
            <a:ext cx="1504371" cy="310896"/>
          </a:xfrm>
          <a:prstGeom prst="roundRect">
            <a:avLst>
              <a:gd name="adj" fmla="val 50000"/>
            </a:avLst>
          </a:prstGeom>
          <a:solidFill>
            <a:srgbClr val="3B6FD4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291840"/>
            <a:ext cx="150437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" y="3840480"/>
            <a:ext cx="5669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단백질 디자인 플랫폼의 영문 사이트.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투자자 · 연구자를 대응하도록 구축했습니다.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0120" y="5074920"/>
            <a:ext cx="621060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056632"/>
            <a:ext cx="6210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718340" y="5074920"/>
            <a:ext cx="689686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1" name="Text 19"/>
          <p:cNvSpPr/>
          <p:nvPr/>
        </p:nvSpPr>
        <p:spPr>
          <a:xfrm>
            <a:off x="1718340" y="5056632"/>
            <a:ext cx="68968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545187" y="5074920"/>
            <a:ext cx="91293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3" name="Text 21"/>
          <p:cNvSpPr/>
          <p:nvPr/>
        </p:nvSpPr>
        <p:spPr>
          <a:xfrm>
            <a:off x="2545187" y="5056632"/>
            <a:ext cx="91293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인터랙션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595284" y="5074920"/>
            <a:ext cx="956371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5" name="Text 23"/>
          <p:cNvSpPr/>
          <p:nvPr/>
        </p:nvSpPr>
        <p:spPr>
          <a:xfrm>
            <a:off x="3595284" y="5056632"/>
            <a:ext cx="95637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영문 카피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132320" y="3063240"/>
            <a:ext cx="4389120" cy="2788920"/>
          </a:xfrm>
          <a:prstGeom prst="roundRect">
            <a:avLst>
              <a:gd name="adj" fmla="val 4262"/>
            </a:avLst>
          </a:prstGeom>
          <a:solidFill>
            <a:srgbClr val="F5F9FF"/>
          </a:solidFill>
          <a:ln/>
          <a:effectLst>
            <a:outerShdw sx="100000" sy="100000" kx="0" ky="0" algn="bl" rotWithShape="0" blurRad="6.930070861168402e+152" dist="2.0790212583505195e+152" dir="5.569789391184891e+178">
              <a:srgbClr val="AEC2E0">
                <a:alpha val="2.2000000000000004e+184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52360" y="32918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52360" y="35021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2024.04 – 2024.09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52360" y="41879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52360" y="4681728"/>
            <a:ext cx="3749040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47548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50749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리드 신청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92640" y="507492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+220%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52360" y="54406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노출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92640" y="544068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12개국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06 of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0" y="685800"/>
            <a:ext cx="2880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3000" dirty="0"/>
          </a:p>
        </p:txBody>
      </p:sp>
      <p:sp>
        <p:nvSpPr>
          <p:cNvPr id="11" name="Text 9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한국보건산업진흥원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 캠페인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6172200" cy="2788920"/>
          </a:xfrm>
          <a:prstGeom prst="roundRect">
            <a:avLst>
              <a:gd name="adj" fmla="val 4262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108047137831157e+75" dist="3.693490459437191e+74" dir="9.14039610015744e+87">
              <a:srgbClr val="9DB4DA">
                <a:alpha val="2.9999999999999996e+89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310128"/>
            <a:ext cx="1504371" cy="310896"/>
          </a:xfrm>
          <a:prstGeom prst="roundRect">
            <a:avLst>
              <a:gd name="adj" fmla="val 50000"/>
            </a:avLst>
          </a:prstGeom>
          <a:solidFill>
            <a:srgbClr val="3B6FD4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291840"/>
            <a:ext cx="150437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" y="3840480"/>
            <a:ext cx="5669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의료관광 진흥 다국어 캠페인 사이트.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언어 · 100+ 의료기관 데이터를 연동했습니다.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0120" y="5212080"/>
            <a:ext cx="124824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193792"/>
            <a:ext cx="124824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 사이트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45527" y="5212080"/>
            <a:ext cx="124824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1" name="Text 19"/>
          <p:cNvSpPr/>
          <p:nvPr/>
        </p:nvSpPr>
        <p:spPr>
          <a:xfrm>
            <a:off x="2345527" y="5193792"/>
            <a:ext cx="124824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디자인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730935" y="5212080"/>
            <a:ext cx="545485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3" name="Text 21"/>
          <p:cNvSpPr/>
          <p:nvPr/>
        </p:nvSpPr>
        <p:spPr>
          <a:xfrm>
            <a:off x="3730935" y="5193792"/>
            <a:ext cx="5454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132320" y="3063240"/>
            <a:ext cx="4389120" cy="2788920"/>
          </a:xfrm>
          <a:prstGeom prst="roundRect">
            <a:avLst>
              <a:gd name="adj" fmla="val 4262"/>
            </a:avLst>
          </a:prstGeom>
          <a:solidFill>
            <a:srgbClr val="F5F9FF"/>
          </a:solidFill>
          <a:ln/>
          <a:effectLst>
            <a:outerShdw sx="100000" sy="100000" kx="0" ky="0" algn="bl" rotWithShape="0" blurRad="8.80118999368387e+156" dist="2.64035699810516e+156" dir="3.3418736347109347e+183">
              <a:srgbClr val="AEC2E0">
                <a:alpha val="2.2000000000000003e+189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52360" y="32918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52360" y="35021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2023.04 – 2023.07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452360" y="39776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52360" y="41879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452360" y="4681728"/>
            <a:ext cx="3749040" cy="0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52360" y="47548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452360" y="50749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언어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692640" y="507492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52360" y="54406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연동 의료기관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92640" y="5440680"/>
            <a:ext cx="1508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100+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98480" y="1371600"/>
            <a:ext cx="109728" cy="10972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0" y="1920240"/>
            <a:ext cx="64008" cy="6400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07 – 12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REMAINING  ·  07 – 12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다양한 프로젝트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· 의료기기 · 브랜드 · IR — 도메인별 깊이 있는 사례.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2743200"/>
            <a:ext cx="3502152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4072198650455694e+79" dist="4.690732883485232e+78" dir="5.484237660094465e+92">
              <a:srgbClr val="9DB4DA">
                <a:alpha val="2.9999999999999997e+94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273552" y="283464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1005840" y="3017520"/>
            <a:ext cx="88879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2999232"/>
            <a:ext cx="8887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05840" y="34015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3767328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 사이트 신규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05840" y="4023360"/>
            <a:ext cx="2862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2024.03 – 2024.07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61688" y="2743200"/>
            <a:ext cx="3502152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787169228607873e+83" dist="5.957230762026245e+82" dir="3.2905425960566786e+97">
              <a:srgbClr val="9DB4DA">
                <a:alpha val="2.9999999999999997e+99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49440" y="283464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3400" dirty="0"/>
          </a:p>
        </p:txBody>
      </p:sp>
      <p:sp>
        <p:nvSpPr>
          <p:cNvPr id="24" name="Shape 22"/>
          <p:cNvSpPr/>
          <p:nvPr/>
        </p:nvSpPr>
        <p:spPr>
          <a:xfrm>
            <a:off x="4681728" y="3017520"/>
            <a:ext cx="104657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25" name="Text 23"/>
          <p:cNvSpPr/>
          <p:nvPr/>
        </p:nvSpPr>
        <p:spPr>
          <a:xfrm>
            <a:off x="4681728" y="2999232"/>
            <a:ext cx="104657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의료/바이오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681728" y="34015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81728" y="3767328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바이오 IR 사이트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81728" y="4023360"/>
            <a:ext cx="2862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2024.07 – 2024.10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37576" y="2743200"/>
            <a:ext cx="3502152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269704920331999e+87" dist="7.565683067773332e+86" dir="1.9743255576340073e+102">
              <a:srgbClr val="9DB4DA">
                <a:alpha val="3e+104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625328" y="2834640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3400" dirty="0"/>
          </a:p>
        </p:txBody>
      </p:sp>
      <p:sp>
        <p:nvSpPr>
          <p:cNvPr id="31" name="Shape 29"/>
          <p:cNvSpPr/>
          <p:nvPr/>
        </p:nvSpPr>
        <p:spPr>
          <a:xfrm>
            <a:off x="8357616" y="3017520"/>
            <a:ext cx="59033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2999232"/>
            <a:ext cx="59033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57616" y="3401568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357616" y="3767328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풀필먼트 SaaS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357616" y="4023360"/>
            <a:ext cx="2862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2024.05 – 2024.08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5800" y="4535424"/>
            <a:ext cx="3502152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8825252488216386e+91" dist="9.608417496072131e+90" dir="1.1845953345804043e+107">
              <a:srgbClr val="9DB4DA">
                <a:alpha val="2.9999999999999997e+109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273552" y="4626864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3400" dirty="0"/>
          </a:p>
        </p:txBody>
      </p:sp>
      <p:sp>
        <p:nvSpPr>
          <p:cNvPr id="38" name="Shape 36"/>
          <p:cNvSpPr/>
          <p:nvPr/>
        </p:nvSpPr>
        <p:spPr>
          <a:xfrm>
            <a:off x="1005840" y="4809744"/>
            <a:ext cx="851489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39" name="Text 37"/>
          <p:cNvSpPr/>
          <p:nvPr/>
        </p:nvSpPr>
        <p:spPr>
          <a:xfrm>
            <a:off x="1005840" y="4791456"/>
            <a:ext cx="85148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05840" y="5193792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05840" y="5559552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 글로벌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005840" y="5815584"/>
            <a:ext cx="2862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2024.02 – 2024.09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361688" y="4535424"/>
            <a:ext cx="3502152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3.660807066003481e+95" dist="1.2202690220011606e+95" dir="7.107572007482426e+111">
              <a:srgbClr val="9DB4DA">
                <a:alpha val="2.9999999999999995e+114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949440" y="4626864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3400" dirty="0"/>
          </a:p>
        </p:txBody>
      </p:sp>
      <p:sp>
        <p:nvSpPr>
          <p:cNvPr id="45" name="Shape 43"/>
          <p:cNvSpPr/>
          <p:nvPr/>
        </p:nvSpPr>
        <p:spPr>
          <a:xfrm>
            <a:off x="4681728" y="4809744"/>
            <a:ext cx="720913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81728" y="4791456"/>
            <a:ext cx="720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681728" y="5193792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681728" y="5559552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친환경 브랜드 D2C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681728" y="5815584"/>
            <a:ext cx="2862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2024.07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037576" y="4535424"/>
            <a:ext cx="3502152" cy="1572768"/>
          </a:xfrm>
          <a:prstGeom prst="roundRect">
            <a:avLst>
              <a:gd name="adj" fmla="val 7558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4.649224973824421e+99" dist="1.549741657941474e+99" dir="4.2645432044894554e+116">
              <a:srgbClr val="9DB4DA">
                <a:alpha val="2.9999999999999997e+119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10625328" y="4626864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AF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3400" dirty="0"/>
          </a:p>
        </p:txBody>
      </p:sp>
      <p:sp>
        <p:nvSpPr>
          <p:cNvPr id="52" name="Shape 50"/>
          <p:cNvSpPr/>
          <p:nvPr/>
        </p:nvSpPr>
        <p:spPr>
          <a:xfrm>
            <a:off x="8357616" y="4809744"/>
            <a:ext cx="888797" cy="31089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/>
        </p:spPr>
      </p:sp>
      <p:sp>
        <p:nvSpPr>
          <p:cNvPr id="53" name="Text 51"/>
          <p:cNvSpPr/>
          <p:nvPr/>
        </p:nvSpPr>
        <p:spPr>
          <a:xfrm>
            <a:off x="8357616" y="4791456"/>
            <a:ext cx="88879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40" kern="0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357616" y="5193792"/>
            <a:ext cx="2587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357616" y="5559552"/>
            <a:ext cx="2862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컨버전 랜딩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357616" y="5815584"/>
            <a:ext cx="2862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2024.08 – 2024.09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EAF2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EEF4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98480" y="1371600"/>
            <a:ext cx="109728" cy="10972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41280" y="1920240"/>
            <a:ext cx="64008" cy="64008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5852160"/>
            <a:ext cx="82296" cy="82296"/>
          </a:xfrm>
          <a:prstGeom prst="ellipse">
            <a:avLst/>
          </a:prstGeom>
          <a:solidFill>
            <a:srgbClr val="5B8DEF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310896"/>
            <a:ext cx="4965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 WEBSLAB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6437376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A6B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881360" y="6400800"/>
            <a:ext cx="75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051560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5B8D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 WEBSLAB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1325880"/>
            <a:ext cx="10058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약속하는 9가지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5800" y="1984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도움이 필요하신가요? 9가지 약속으로 답합니다.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2697480"/>
            <a:ext cx="3502152" cy="96012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1177511291978515e+161" dist="3.353253387593553e+160" dir="2.0051241808265608e+188">
              <a:srgbClr val="AEC2E0">
                <a:alpha val="2.2000000000000004e+194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78408" y="2697480"/>
            <a:ext cx="1051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2057400" y="2898648"/>
            <a:ext cx="0" cy="557784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21992" y="2880360"/>
            <a:ext cx="1764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221992" y="3172968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약속을 끝까지 책임집니다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61688" y="2697480"/>
            <a:ext cx="3502152" cy="96012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4195439340812714e+165" dist="4.2586318022438123e+164" dir="1.2030745084959364e+193">
              <a:srgbClr val="AEC2E0">
                <a:alpha val="2.2000000000000006e+199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54296" y="2697480"/>
            <a:ext cx="1051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5733288" y="2898648"/>
            <a:ext cx="0" cy="557784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7880" y="2880360"/>
            <a:ext cx="1764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재계약률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897880" y="3172968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만난 고객과 오래 갑니다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37576" y="2697480"/>
            <a:ext cx="3502152" cy="96012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1.8028207962832146e+169" dist="5.408462388849642e+168" dir="7.218447050975619e+197">
              <a:srgbClr val="AEC2E0">
                <a:alpha val="2.2000000000000007e+204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30184" y="2697480"/>
            <a:ext cx="1051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409176" y="2898648"/>
            <a:ext cx="0" cy="557784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73768" y="2880360"/>
            <a:ext cx="1764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전환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573768" y="3172968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SEO·데이터 손실 없는 마이그레이션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3803904"/>
            <a:ext cx="3502152" cy="96012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2895824112796827e+173" dist="6.868747233839046e+172" dir="4.3310682305853715e+202">
              <a:srgbClr val="AEC2E0">
                <a:alpha val="2.2000000000000006e+209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78408" y="3803904"/>
            <a:ext cx="1051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2057400" y="4005072"/>
            <a:ext cx="0" cy="557784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21992" y="3986784"/>
            <a:ext cx="1764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유지보수 체계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221992" y="4279392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후에도 즉각 대응 보장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361688" y="3803904"/>
            <a:ext cx="3502152" cy="96012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2.907769662325197e+177" dist="8.723308986975589e+176" dir="2.598640938351223e+207">
              <a:srgbClr val="AEC2E0">
                <a:alpha val="2.2000000000000007e+214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654296" y="3803904"/>
            <a:ext cx="1051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전담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733288" y="4005072"/>
            <a:ext cx="0" cy="557784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97880" y="3986784"/>
            <a:ext cx="1764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897880" y="4279392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책임자와 직접 소통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037576" y="3803904"/>
            <a:ext cx="3502152" cy="96012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3.692867471153e+181" dist="1.1078602413458997e+181" dir="1.5591845630107338e+212">
              <a:srgbClr val="AEC2E0">
                <a:alpha val="2.2000000000000008e+219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30184" y="3803904"/>
            <a:ext cx="1051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9409176" y="4005072"/>
            <a:ext cx="0" cy="557784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73768" y="3986784"/>
            <a:ext cx="1764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공유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573768" y="4279392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자료로 투명하게 공유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5800" y="4910328"/>
            <a:ext cx="3502152" cy="96012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4.68994168836431e+185" dist="1.4069825065092926e+185" dir="9.355107378064403e+216">
              <a:srgbClr val="AEC2E0">
                <a:alpha val="2.200000000000001e+224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78408" y="4910328"/>
            <a:ext cx="1051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0건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2057400" y="5111496"/>
            <a:ext cx="0" cy="557784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21992" y="5093208"/>
            <a:ext cx="1764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2221992" y="5385816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중 0건의 사고 기록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61688" y="4910328"/>
            <a:ext cx="3502152" cy="96012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5.956225944222674e+189" dist="1.7868677832668018e+189" dir="5.613064426838642e+221">
              <a:srgbClr val="AEC2E0">
                <a:alpha val="2.2000000000000008e+229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54296" y="4910328"/>
            <a:ext cx="1051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5733288" y="5111496"/>
            <a:ext cx="0" cy="557784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97880" y="5093208"/>
            <a:ext cx="1764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기업별 특성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897880" y="5385816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업종·조직·타깃 맞춤 컨설팅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037576" y="4910328"/>
            <a:ext cx="3502152" cy="96012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12700">
            <a:solidFill>
              <a:srgbClr val="E2ECF9"/>
            </a:solidFill>
            <a:prstDash val="solid"/>
          </a:ln>
          <a:effectLst>
            <a:outerShdw sx="100000" sy="100000" kx="0" ky="0" algn="bl" rotWithShape="0" blurRad="7.564406949162795e+193" dist="2.2693220847488382e+193" dir="3.367838656103185e+226">
              <a:srgbClr val="AEC2E0">
                <a:alpha val="2.2000000000000008e+234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8330184" y="4910328"/>
            <a:ext cx="1051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6F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투명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9409176" y="5111496"/>
            <a:ext cx="0" cy="557784"/>
          </a:xfrm>
          <a:prstGeom prst="line">
            <a:avLst/>
          </a:prstGeom>
          <a:noFill/>
          <a:ln w="12700">
            <a:solidFill>
              <a:srgbClr val="E2ECF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573768" y="5093208"/>
            <a:ext cx="1764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1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 시스템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9573768" y="5385816"/>
            <a:ext cx="1810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A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항목별 견적, 숨은 비용 없음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oya8787-Desktop-webslab-co-kr/426a2b64-a899-4a5d-af34-9900f0174f57/scratchpad/pptx/bg_clo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private/tmp/claude-501/-Users-dooya8787-Desktop-webslab-co-kr/426a2b64-a899-4a5d-af34-9900f0174f57/scratchpad/pptx/orb.png">    </p:cNvPr>
          <p:cNvPicPr>
            <a:picLocks noChangeAspect="1"/>
          </p:cNvPicPr>
          <p:nvPr/>
        </p:nvPicPr>
        <p:blipFill>
          <a:blip r:embed="rId2">
            <a:alphaModFix amt="78000"/>
          </a:blip>
          <a:stretch>
            <a:fillRect/>
          </a:stretch>
        </p:blipFill>
        <p:spPr>
          <a:xfrm>
            <a:off x="9966960" y="5029200"/>
            <a:ext cx="3383280" cy="33832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31089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</a:t>
            </a:r>
            <a:pPr algn="l" indent="0" marL="0">
              <a:buNone/>
            </a:pPr>
            <a:r>
              <a:rPr lang="en-US" sz="1300" b="1" dirty="0">
                <a:solidFill>
                  <a:srgbClr val="9DBB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LAB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85800" y="1554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9DBB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640080" y="196596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준비되셨다면, 시작하겠습니다.</a:t>
            </a:r>
            <a:endParaRPr lang="en-US" sz="4200" dirty="0"/>
          </a:p>
        </p:txBody>
      </p:sp>
      <p:sp>
        <p:nvSpPr>
          <p:cNvPr id="7" name="Text 3"/>
          <p:cNvSpPr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4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목적 · 예산 · 일정만 알려주세요. 1영업일 안에 회신드립니다.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3429000" cy="1234440"/>
          </a:xfrm>
          <a:prstGeom prst="roundRect">
            <a:avLst>
              <a:gd name="adj" fmla="val 10370"/>
            </a:avLst>
          </a:prstGeom>
          <a:solidFill>
            <a:srgbClr val="2A3E6E"/>
          </a:solidFill>
          <a:ln w="12700">
            <a:solidFill>
              <a:srgbClr val="3C548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005840" y="3867912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BB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문의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005840" y="423367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webslab.co.kr/contact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0832" y="3611880"/>
            <a:ext cx="3429000" cy="1234440"/>
          </a:xfrm>
          <a:prstGeom prst="roundRect">
            <a:avLst>
              <a:gd name="adj" fmla="val 10370"/>
            </a:avLst>
          </a:prstGeom>
          <a:solidFill>
            <a:srgbClr val="2A3E6E"/>
          </a:solidFill>
          <a:ln w="12700">
            <a:solidFill>
              <a:srgbClr val="3C548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90872" y="3867912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BB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690872" y="423367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55864" y="3611880"/>
            <a:ext cx="3429000" cy="1234440"/>
          </a:xfrm>
          <a:prstGeom prst="roundRect">
            <a:avLst>
              <a:gd name="adj" fmla="val 10370"/>
            </a:avLst>
          </a:prstGeom>
          <a:solidFill>
            <a:srgbClr val="2A3E6E"/>
          </a:solidFill>
          <a:ln w="12700">
            <a:solidFill>
              <a:srgbClr val="3C548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5904" y="3867912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BB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 · 카카오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8375904" y="423367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" y="594360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웹슬랩  ·  대표 조현도  ·  서울특별시 강남구 역삼로3길 19 10층 1007호  ·  173-58-00764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2026-07-08T11:50:41Z</dcterms:created>
  <dcterms:modified xsi:type="dcterms:W3CDTF">2026-07-08T11:50:41Z</dcterms:modified>
</cp:coreProperties>
</file>